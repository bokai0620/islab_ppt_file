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7" r:id="rId2"/>
    <p:sldId id="359" r:id="rId3"/>
    <p:sldId id="329" r:id="rId4"/>
    <p:sldId id="353" r:id="rId5"/>
    <p:sldId id="301" r:id="rId6"/>
    <p:sldId id="376" r:id="rId7"/>
    <p:sldId id="378" r:id="rId8"/>
    <p:sldId id="379" r:id="rId9"/>
    <p:sldId id="258" r:id="rId10"/>
    <p:sldId id="380" r:id="rId11"/>
    <p:sldId id="382" r:id="rId12"/>
    <p:sldId id="383" r:id="rId13"/>
    <p:sldId id="384" r:id="rId14"/>
    <p:sldId id="385" r:id="rId15"/>
    <p:sldId id="386" r:id="rId16"/>
    <p:sldId id="354" r:id="rId17"/>
    <p:sldId id="371" r:id="rId18"/>
    <p:sldId id="387" r:id="rId19"/>
    <p:sldId id="348" r:id="rId20"/>
    <p:sldId id="349" r:id="rId21"/>
    <p:sldId id="351" r:id="rId22"/>
    <p:sldId id="352" r:id="rId23"/>
    <p:sldId id="355" r:id="rId24"/>
    <p:sldId id="36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-197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4:15.777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1,'373'0,"-405"-1,-37 1,64 0,-1 1,1 0,0 0,0 0,0 0,0 1,0 0,0 0,-9 5,14-7,0 0,0 0,0 1,0-1,0 0,-1 0,1 0,0 1,0-1,0 0,0 0,0 0,0 1,0-1,0 0,0 0,0 0,0 1,0-1,0 0,0 0,0 1,0-1,0 0,0 0,0 0,1 1,-1-1,0 0,0 0,0 0,0 0,0 1,0-1,1 0,-1 0,0 0,0 0,0 0,0 1,1-1,-1 0,0 0,0 0,0 0,1 0,-1 0,0 0,0 0,1 0,-1 0,0 0,0 0,0 0,1 0,-1 0,0 0,0 0,0 0,1 0,-1 0,0 0,17 2,137 0,-102-3,-76 7,-46 11,-118 13,145-19,26-6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7:34:18.2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 0,'1429'0'0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4:23.03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28,'0'-4,"5"-2,5 0,6 1,5 2,3 1,2 1,1 1,1 0,0 0,-1 0,-5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7:34:29.38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 0,'741'0'0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4:30.89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21,'636'0,"-621"-1,0 0,0-2,29-7,-43 9,17-3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4:42.75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0 138,'37'0,"1"1,1-1,-1-3,60-11,-28-3,103-39,-143 46,46-10,-55 15,15-1,1 2,0 2,0 0,41 6,5-2,737-2,-798 1,1 2,39 9,-11-2,-30-5,-5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4:44.77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2,'34'-1,"0"2,0 1,59 12,66 14,-129-21,6 2,1-2,0-1,50 2,999-9,-1064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4:46.17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0,'6'1,"1"-1,-1 1,1 1,-1 0,10 3,17 4,31 5,-40-8,-1-1,1-1,25 1,641-5,-321-1,-158 1,-188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4:47.08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1,'19'2,"0"0,0 1,-1 1,1 1,20 8,39 10,-35-14,-20-3,0-1,0-2,26 2,241-6,-267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4:55.02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55,'30'-2,"-1"0,40-10,-11 1,3 1,-25 3,1 2,41-1,160 7,-216-1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4:56.322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2,'68'-2,"75"4,-70 11,-53-9,0 0,28 1,269-5,-295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5:00.08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0,'25'2,"-1"1,0 1,41 12,-44-11,17 4,0-2,75 3,80-11,-70-2,512 4,-629-1,0 0,0 0,0-1,1 1,-1-1,0 0,0-1,0 0,0 0,0 0,5-3,-9 0,-5 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5:01.319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55,'1'-1,"-1"0,1-1,-1 1,1 0,-1 0,1 0,0 0,-1 0,1 0,0 0,0 0,0 0,0 0,0 0,0 1,0-1,0 0,0 1,0-1,0 1,1-1,-1 1,0-1,0 1,0 0,1 0,1-1,41-4,-39 5,107-13,-66 6,64-1,763 9,-850-1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5:02.315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0,'16'1,"1"1,-1 1,20 4,-17-2,36 3,-18-6,-6-1,1 2,39 8,-27-4,0-2,1-2,85-6,-33 1,325 2,-399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5:03.18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1,'821'0,"-798"0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5:04.170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35:04.91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1,'49'0,"-1"2,68 12,-83-10,63 1,-64-4,-1 0,43 9,-8-1,0-2,0-3,91-7,-36 1,107 2,-217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50:08.738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1,'34'0,"1"1,-1 1,59 12,-64-9,1-1,0-2,0 0,36-4,56 3,-40 13,-31-3,3 0,-32-6,0 0,38 1,-29-5,-13 1,0-2,1 0,-1-1,32-6,-33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1-28T17:50:11.591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28,'77'2,"85"-4,-90-11,-52 8,0 2,28-3,209 6,-117 1,-120 0,-1 2,1 0,26 7,-17-3,-26-6,0 0,-1-1,1 1,0 0,-1 0,1 0,0 1,-1-1,4 3,-1 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8T17:50:14.603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 0,'900'-79'0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DFB32-D697-4E79-BCEA-13BD03C19907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92C6F-8A17-424C-AE18-9528893F4C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336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3650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2365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11CED-F3E4-CA98-180C-CF98D86FD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318268-A345-0256-81A0-AECB346C94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3BC3573-DB70-2AF9-A8D6-E312E5ED3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26CB54A-C26F-B57B-0088-860694C07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07052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6D493-2C4D-DDBB-4387-D68B176B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9557A72-53E0-91E2-EB64-9680ECC04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EF16F22-3B0C-67C8-C9DE-5C3FAB4F25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A2889D1-EACB-6742-5640-1C6CBE067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0465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D910-91C3-DCF0-F31A-0B039AEAF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9D4125E-DC24-A22A-FBC9-FB530F471A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E561F5E-8C9F-9D7B-4ED9-431016BE6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EC2232-CD31-B8D7-6E90-A995DA424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7776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2C58-895E-581D-B2D5-6FBA8B9B3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6C079D4-89CB-AB47-D384-966938E4F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941F146-5962-C7AA-F685-FCD1B52A7C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922F48-991E-8A28-CC79-506C52E76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6270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35C52-95E7-D88D-6746-AF350060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813FFD3-CFBB-83F9-C9D7-BBBAF2DAD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ED7E473-AFB8-B0E4-C4B9-6504197DE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413FABB-9A81-E2A9-581A-6777104AE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16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2CCB0-9616-CB0C-69D0-2DB8960B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CFE4EA-5F3E-FE34-A25D-4FA1C2EBF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A9EE9E2-85D4-CC70-3023-E95949EA83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335DAD1-E4E4-E867-F8A9-B3BC0E41A8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265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953B9-5470-EFB4-1B44-487594094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95C3471-4F5F-02E5-2619-2CB062347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9A6CFC-3D4C-6427-AFD5-B5D2B8B46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2DC370-9F6C-8A83-C103-08DEAC133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1005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9AA1-4AD6-1A59-E308-4E9E7A3A6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B3E601F-2307-CB9D-DBA6-EECB3ED6A9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D9045C-6FFB-119D-2E09-FCDC1172C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80E9B8-3034-0961-1DDE-3FB170562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215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19F10-A86C-C3EB-305E-53F9370E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363993A-621A-81F4-D16E-2DC6ACE90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755959E-3CA8-00B0-52BC-86C23DC33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Model</a:t>
            </a:r>
            <a:r>
              <a:rPr lang="zh-TW" altLang="en-US" dirty="0"/>
              <a:t> </a:t>
            </a:r>
            <a:r>
              <a:rPr lang="en-US" altLang="zh-TW" dirty="0"/>
              <a:t>6</a:t>
            </a:r>
            <a:r>
              <a:rPr lang="zh-TW" altLang="en-US" dirty="0"/>
              <a:t> </a:t>
            </a:r>
            <a:r>
              <a:rPr lang="en-US" altLang="zh-TW" dirty="0"/>
              <a:t>:10</a:t>
            </a:r>
            <a:r>
              <a:rPr lang="zh-TW" altLang="en-US" dirty="0"/>
              <a:t>個特徵工程</a:t>
            </a:r>
            <a:endParaRPr lang="en-US" altLang="zh-TW" dirty="0"/>
          </a:p>
          <a:p>
            <a:r>
              <a:rPr lang="en-US" altLang="zh-TW" dirty="0"/>
              <a:t>Dataset5:2014-2015 </a:t>
            </a:r>
            <a:r>
              <a:rPr lang="zh-TW" altLang="en-US" dirty="0"/>
              <a:t>和 </a:t>
            </a:r>
            <a:r>
              <a:rPr lang="en-US" altLang="zh-TW" dirty="0"/>
              <a:t>2016-2017</a:t>
            </a:r>
            <a:r>
              <a:rPr lang="zh-TW" altLang="en-US" dirty="0"/>
              <a:t>的 歐洲例行賽</a:t>
            </a:r>
            <a:r>
              <a:rPr lang="en-US" altLang="zh-TW" dirty="0"/>
              <a:t>+</a:t>
            </a:r>
            <a:r>
              <a:rPr lang="zh-TW" altLang="en-US" dirty="0"/>
              <a:t>季後賽數據共</a:t>
            </a:r>
            <a:r>
              <a:rPr lang="en-US" altLang="zh-TW" dirty="0"/>
              <a:t>760</a:t>
            </a:r>
            <a:r>
              <a:rPr lang="zh-TW" altLang="en-US" dirty="0"/>
              <a:t>場</a:t>
            </a:r>
            <a:endParaRPr lang="en-US" altLang="zh-TW" dirty="0"/>
          </a:p>
          <a:p>
            <a:r>
              <a:rPr lang="en-US" altLang="zh-TW" dirty="0"/>
              <a:t>RMS:</a:t>
            </a:r>
            <a:r>
              <a:rPr lang="zh-TW" altLang="en-US" dirty="0"/>
              <a:t>均方根誤差</a:t>
            </a:r>
            <a:r>
              <a:rPr lang="en-US" altLang="zh-TW" dirty="0"/>
              <a:t>(</a:t>
            </a:r>
            <a:r>
              <a:rPr lang="zh-TW" altLang="en-US" dirty="0"/>
              <a:t>預測跟實際值相減平方</a:t>
            </a:r>
            <a:r>
              <a:rPr lang="en-US" altLang="zh-TW" dirty="0"/>
              <a:t>)</a:t>
            </a:r>
            <a:r>
              <a:rPr lang="zh-TW" altLang="en-US" dirty="0"/>
              <a:t>越小越好</a:t>
            </a:r>
            <a:r>
              <a:rPr lang="en-US" altLang="zh-TW" dirty="0"/>
              <a:t>(</a:t>
            </a:r>
            <a:r>
              <a:rPr lang="zh-TW" altLang="en-US" dirty="0"/>
              <a:t>差距越小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6F27F1-32A4-0D7C-CD37-403CAE1C3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238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BD60-4C09-E7EE-543C-1DF5FBCC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32AF30-DD34-A53D-B875-FF662B40E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E6392E4-9CD0-6B0D-408F-B1A639C234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C54791-AC05-76D3-66D1-F1096A828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9346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E58F9-DA21-EB3E-A871-4977495B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3251C5A-714D-AE18-E44C-E1ADA8A48F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873F763-A6CB-CED1-9229-8B8F00A3A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8DAB25-69F1-26A3-D0BC-18D74790CC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34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3C203-2899-7710-3A7F-92B0B1FAF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59E8D88-DF9E-26B4-3FC5-14B51CC0F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0C5429-8370-9C7F-4623-36E87C0EC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BF1D17-EBD6-7121-4A66-5C6738F0D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6719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DB6FA-FB5A-548C-20EF-795881263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FD5AD8-3F69-F5F6-2AE7-5AF2B7D5C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DA793F1-C395-E161-750B-3C9BC43A0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DDC6D0-0736-2FDA-EF7D-4989D7000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5158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4391-08D2-EEB5-A378-B2083246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A019CD7-2B88-4F77-1977-004363579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109ACC-8A3A-90E9-0DD3-BE3603D897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2. </a:t>
            </a:r>
            <a:r>
              <a:rPr lang="zh-TW" altLang="en-US" b="1" dirty="0"/>
              <a:t>發生了什麼事？「功勞被搶走了」</a:t>
            </a:r>
          </a:p>
          <a:p>
            <a:r>
              <a:rPr lang="zh-TW" altLang="en-US" dirty="0"/>
              <a:t>當兩個特徵（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i_defense</a:t>
            </a:r>
            <a:r>
              <a:rPr lang="zh-TW" altLang="en-US" dirty="0"/>
              <a:t> 和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def_tp</a:t>
            </a:r>
            <a:r>
              <a:rPr lang="zh-TW" altLang="en-US" dirty="0"/>
              <a:t>）都包含類似的資訊（對手失誤）時，模型（</a:t>
            </a:r>
            <a:r>
              <a:rPr lang="en-US" altLang="zh-TW" dirty="0"/>
              <a:t>MLP </a:t>
            </a:r>
            <a:r>
              <a:rPr lang="zh-TW" altLang="en-US" dirty="0"/>
              <a:t>或 </a:t>
            </a:r>
            <a:r>
              <a:rPr lang="en-US" altLang="zh-TW" dirty="0"/>
              <a:t>Tree</a:t>
            </a:r>
            <a:r>
              <a:rPr lang="zh-TW" altLang="en-US" dirty="0"/>
              <a:t>）在訓練時會發生以下情況：</a:t>
            </a:r>
          </a:p>
          <a:p>
            <a:r>
              <a:rPr lang="zh-TW" altLang="en-US" b="1" dirty="0"/>
              <a:t>主要特徵獲勝：</a:t>
            </a:r>
            <a:r>
              <a:rPr lang="zh-TW" altLang="en-US" dirty="0"/>
              <a:t> 模型發現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i_defense</a:t>
            </a:r>
            <a:r>
              <a:rPr lang="zh-TW" altLang="en-US" dirty="0"/>
              <a:t> 這個綜合指標對預測勝負</a:t>
            </a:r>
            <a:r>
              <a:rPr lang="zh-TW" altLang="en-US" b="1" dirty="0"/>
              <a:t>超級有用</a:t>
            </a:r>
            <a:r>
              <a:rPr lang="zh-TW" altLang="en-US" dirty="0"/>
              <a:t>。所以它把大部分關於「防守好、迫使失誤」的權重都給了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i_defense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次要特徵的修正作用：</a:t>
            </a:r>
            <a:r>
              <a:rPr lang="zh-TW" altLang="en-US" dirty="0"/>
              <a:t> 當模型已經用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i_defense</a:t>
            </a:r>
            <a:r>
              <a:rPr lang="zh-TW" altLang="en-US" dirty="0"/>
              <a:t> 解釋了大部分的勝率後，剩下來的 </a:t>
            </a: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def_tp</a:t>
            </a:r>
            <a:r>
              <a:rPr lang="zh-TW" altLang="en-US" dirty="0"/>
              <a:t> 就變成了**「修正項」</a:t>
            </a:r>
            <a:r>
              <a:rPr lang="zh-TW" altLang="en-US" b="1" dirty="0"/>
              <a:t>或</a:t>
            </a:r>
            <a:r>
              <a:rPr lang="zh-TW" altLang="en-US" dirty="0"/>
              <a:t>「殘差」**。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517D82-0E76-4A18-57EB-142414853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990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03623-22D2-6645-74D9-65B8B103D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8269914-C4D6-3FB5-E0AF-F6F494CA5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700512A-46CC-294B-9086-3E90EC32C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90B60C-880C-02CA-D3A6-3B35EF7C2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465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4A299-FBAA-976E-0298-097CCF3B9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CC10D00-DEB0-E02D-042C-6E3181186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40F776F-23D0-79AE-1FAD-94E8072B22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7FC907-18E4-BF47-0577-9867BA162E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92C6F-8A17-424C-AE18-9528893F4C31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2841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960077921004732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1.png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16.png"/><Relationship Id="rId41" Type="http://schemas.openxmlformats.org/officeDocument/2006/relationships/image" Target="../media/image22.png"/><Relationship Id="rId1" Type="http://schemas.openxmlformats.org/officeDocument/2006/relationships/slideLayout" Target="../slideLayouts/slideLayout11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1.png"/><Relationship Id="rId31" Type="http://schemas.openxmlformats.org/officeDocument/2006/relationships/image" Target="../media/image17.png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8" Type="http://schemas.openxmlformats.org/officeDocument/2006/relationships/customXml" Target="../ink/ink3.xml"/><Relationship Id="rId3" Type="http://schemas.openxmlformats.org/officeDocument/2006/relationships/image" Target="../media/image3.png"/><Relationship Id="rId12" Type="http://schemas.openxmlformats.org/officeDocument/2006/relationships/customXml" Target="../ink/ink5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B7288-6DAC-D823-8AD6-0E388AF6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00CB0D-B8A8-C1AB-71B1-8623BE4EF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4663" y="2895402"/>
            <a:ext cx="9962674" cy="1067196"/>
          </a:xfrm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txBody>
          <a:bodyPr>
            <a:noAutofit/>
          </a:bodyPr>
          <a:lstStyle/>
          <a:p>
            <a:pPr algn="dist">
              <a:lnSpc>
                <a:spcPct val="100000"/>
              </a:lnSpc>
            </a:pPr>
            <a:r>
              <a:rPr lang="en-US" altLang="zh-TW" sz="6000" spc="20" dirty="0">
                <a:latin typeface="+mj-ea"/>
              </a:rPr>
              <a:t>NBA</a:t>
            </a:r>
            <a:r>
              <a:rPr lang="zh-TW" altLang="en-US" sz="6000" spc="20" dirty="0">
                <a:latin typeface="+mj-ea"/>
              </a:rPr>
              <a:t>賽事</a:t>
            </a:r>
            <a:r>
              <a:rPr lang="en-US" altLang="zh-TW" sz="6000" spc="20" dirty="0">
                <a:latin typeface="+mj-ea"/>
              </a:rPr>
              <a:t>AI</a:t>
            </a:r>
            <a:r>
              <a:rPr lang="zh-TW" altLang="en-US" sz="6000" spc="20" dirty="0">
                <a:latin typeface="+mj-ea"/>
              </a:rPr>
              <a:t>預測</a:t>
            </a:r>
            <a:r>
              <a:rPr lang="en-US" altLang="zh-TW" sz="6000" spc="20" dirty="0">
                <a:latin typeface="+mj-ea"/>
              </a:rPr>
              <a:t>-</a:t>
            </a:r>
            <a:r>
              <a:rPr lang="zh-TW" altLang="en-US" sz="6000" spc="20" dirty="0">
                <a:latin typeface="+mj-ea"/>
              </a:rPr>
              <a:t>論文閱讀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BF299F7-CD32-62AF-91D2-55690F004EE1}"/>
              </a:ext>
            </a:extLst>
          </p:cNvPr>
          <p:cNvSpPr txBox="1"/>
          <p:nvPr/>
        </p:nvSpPr>
        <p:spPr>
          <a:xfrm>
            <a:off x="4125515" y="415497"/>
            <a:ext cx="39409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報告主題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69EB551-10C7-4259-9318-3BF7D9EE6B31}"/>
              </a:ext>
            </a:extLst>
          </p:cNvPr>
          <p:cNvSpPr txBox="1"/>
          <p:nvPr/>
        </p:nvSpPr>
        <p:spPr>
          <a:xfrm>
            <a:off x="7206554" y="5934670"/>
            <a:ext cx="513784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報告者</a:t>
            </a:r>
            <a:r>
              <a:rPr lang="en-US" altLang="zh-TW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5400" spc="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徐博凱</a:t>
            </a:r>
          </a:p>
        </p:txBody>
      </p:sp>
    </p:spTree>
    <p:extLst>
      <p:ext uri="{BB962C8B-B14F-4D97-AF65-F5344CB8AC3E}">
        <p14:creationId xmlns:p14="http://schemas.microsoft.com/office/powerpoint/2010/main" val="131930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8053-D07D-DC00-5193-A10AA343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767D616E-74D0-599F-2EF0-778906768B15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上週預計進度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984277-45D5-BED6-3B76-7C60208E68D0}"/>
              </a:ext>
            </a:extLst>
          </p:cNvPr>
          <p:cNvSpPr txBox="1">
            <a:spLocks/>
          </p:cNvSpPr>
          <p:nvPr/>
        </p:nvSpPr>
        <p:spPr>
          <a:xfrm>
            <a:off x="1178758" y="3686175"/>
            <a:ext cx="8188342" cy="4191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報告</a:t>
            </a:r>
            <a:r>
              <a:rPr lang="en-US" altLang="zh-TW" sz="2800" dirty="0"/>
              <a:t>1</a:t>
            </a:r>
            <a:r>
              <a:rPr lang="zh-TW" altLang="en-US" sz="2800" dirty="0"/>
              <a:t>篇論文、復現 </a:t>
            </a:r>
            <a:r>
              <a:rPr lang="en-US" altLang="zh-TW" sz="2800" dirty="0"/>
              <a:t>MLP</a:t>
            </a:r>
            <a:r>
              <a:rPr lang="zh-TW" altLang="en-US" sz="2800" dirty="0"/>
              <a:t> </a:t>
            </a:r>
            <a:r>
              <a:rPr lang="en-US" altLang="zh-TW" sz="2800" dirty="0"/>
              <a:t>+</a:t>
            </a:r>
            <a:r>
              <a:rPr lang="zh-TW" altLang="en-US" sz="2800" dirty="0"/>
              <a:t> 特徵工程 做法</a:t>
            </a:r>
            <a:endParaRPr lang="en-US" altLang="zh-TW" sz="2800" dirty="0"/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47AB1C57-496C-CBD8-1932-0D3623F6F50D}"/>
              </a:ext>
            </a:extLst>
          </p:cNvPr>
          <p:cNvSpPr txBox="1">
            <a:spLocks/>
          </p:cNvSpPr>
          <p:nvPr/>
        </p:nvSpPr>
        <p:spPr>
          <a:xfrm>
            <a:off x="1298558" y="1489797"/>
            <a:ext cx="10360042" cy="13105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找賽事預測相關論文。</a:t>
            </a:r>
            <a:endParaRPr lang="en-US" altLang="zh-TW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找提高準確率的新特徵、新模型等等做法。</a:t>
            </a:r>
            <a:endParaRPr lang="en-US" altLang="zh-TW" sz="2800" dirty="0"/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5E1B3235-64C4-1FF1-F27E-CDDA1311789C}"/>
              </a:ext>
            </a:extLst>
          </p:cNvPr>
          <p:cNvSpPr txBox="1">
            <a:spLocks/>
          </p:cNvSpPr>
          <p:nvPr/>
        </p:nvSpPr>
        <p:spPr>
          <a:xfrm>
            <a:off x="1298558" y="837334"/>
            <a:ext cx="2349517" cy="88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預計 </a:t>
            </a:r>
            <a:r>
              <a:rPr lang="en-US" altLang="zh-TW" sz="2800" dirty="0"/>
              <a:t>: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EBD6FE93-87A4-64EA-3948-98DEEF1FFF65}"/>
              </a:ext>
            </a:extLst>
          </p:cNvPr>
          <p:cNvSpPr txBox="1">
            <a:spLocks/>
          </p:cNvSpPr>
          <p:nvPr/>
        </p:nvSpPr>
        <p:spPr>
          <a:xfrm>
            <a:off x="1178758" y="2990044"/>
            <a:ext cx="2349517" cy="88669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dirty="0"/>
              <a:t>完成 </a:t>
            </a:r>
            <a:r>
              <a:rPr lang="en-US" altLang="zh-TW" sz="28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83248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EBAC4-3E8B-8B6F-1557-E69EAC460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7E06E45F-45EC-D4D5-B862-7D69C464A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56" y="114300"/>
            <a:ext cx="1516019" cy="733425"/>
          </a:xfrm>
        </p:spPr>
        <p:txBody>
          <a:bodyPr>
            <a:normAutofit/>
          </a:bodyPr>
          <a:lstStyle/>
          <a:p>
            <a:pPr algn="ctr"/>
            <a:r>
              <a:rPr lang="zh-TW" altLang="en-US" sz="2400" dirty="0"/>
              <a:t>參考文獻</a:t>
            </a:r>
            <a:r>
              <a:rPr lang="en-US" altLang="zh-TW" sz="2400" dirty="0"/>
              <a:t>:</a:t>
            </a:r>
            <a:endParaRPr lang="zh-TW" altLang="en-US" sz="2400" dirty="0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3924CFEF-566D-FD46-8781-E554EF1B7553}"/>
              </a:ext>
            </a:extLst>
          </p:cNvPr>
          <p:cNvSpPr txBox="1">
            <a:spLocks/>
          </p:cNvSpPr>
          <p:nvPr/>
        </p:nvSpPr>
        <p:spPr>
          <a:xfrm>
            <a:off x="1179556" y="847724"/>
            <a:ext cx="10098044" cy="57054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400" cap="none" dirty="0" err="1"/>
              <a:t>Ballı</a:t>
            </a:r>
            <a:r>
              <a:rPr lang="en-US" altLang="zh-TW" sz="2400" cap="none" dirty="0"/>
              <a:t>, S., &amp; Özdemir, E. (2021). A novel method for prediction of </a:t>
            </a:r>
            <a:r>
              <a:rPr lang="en-US" altLang="zh-TW" sz="2400" cap="none" dirty="0" err="1"/>
              <a:t>EuroLeague</a:t>
            </a:r>
            <a:r>
              <a:rPr lang="en-US" altLang="zh-TW" sz="2400" cap="none" dirty="0"/>
              <a:t> game results using hybrid feature extraction and machine learning techniques. Chaos, solitons &amp; Fractals, 150, 111119. </a:t>
            </a:r>
            <a:r>
              <a:rPr lang="en-US" altLang="zh-TW" sz="2400" cap="none" dirty="0">
                <a:hlinkClick r:id="rId2"/>
              </a:rPr>
              <a:t>link</a:t>
            </a:r>
            <a:endParaRPr lang="zh-TW" altLang="en-US" sz="2400" cap="none" dirty="0"/>
          </a:p>
        </p:txBody>
      </p:sp>
    </p:spTree>
    <p:extLst>
      <p:ext uri="{BB962C8B-B14F-4D97-AF65-F5344CB8AC3E}">
        <p14:creationId xmlns:p14="http://schemas.microsoft.com/office/powerpoint/2010/main" val="588430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AC36-35DA-2DC2-5C8F-39082FA36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683B88E9-A865-C587-B438-B30BC6DAF1B3}"/>
              </a:ext>
            </a:extLst>
          </p:cNvPr>
          <p:cNvSpPr txBox="1">
            <a:spLocks/>
          </p:cNvSpPr>
          <p:nvPr/>
        </p:nvSpPr>
        <p:spPr>
          <a:xfrm>
            <a:off x="-16669" y="1920478"/>
            <a:ext cx="12225338" cy="3017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混和特徵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機器學習預測勝負</a:t>
            </a:r>
            <a:endParaRPr lang="en-US" altLang="zh-TW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TW" sz="4000" dirty="0"/>
              <a:t>A novel method for prediction of </a:t>
            </a:r>
            <a:r>
              <a:rPr lang="en-US" altLang="zh-TW" sz="4000" dirty="0" err="1"/>
              <a:t>EuroLeague</a:t>
            </a:r>
            <a:r>
              <a:rPr lang="en-US" altLang="zh-TW" sz="4000" dirty="0"/>
              <a:t> game results using hybrid feature extraction and machine learning techniques 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873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E8053-D07D-DC00-5193-A10AA343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767D616E-74D0-599F-2EF0-778906768B15}"/>
              </a:ext>
            </a:extLst>
          </p:cNvPr>
          <p:cNvSpPr txBox="1">
            <a:spLocks/>
          </p:cNvSpPr>
          <p:nvPr/>
        </p:nvSpPr>
        <p:spPr>
          <a:xfrm>
            <a:off x="2912870" y="-266610"/>
            <a:ext cx="7015163" cy="11620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論文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混和特徵</a:t>
            </a:r>
            <a:r>
              <a:rPr lang="en-US" altLang="zh-TW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機器學習預測勝負</a:t>
            </a:r>
            <a:endParaRPr lang="en-US" altLang="zh-TW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D3B5687-A701-B1F5-EC99-EDF9DFC7E4F0}"/>
              </a:ext>
            </a:extLst>
          </p:cNvPr>
          <p:cNvSpPr txBox="1">
            <a:spLocks/>
          </p:cNvSpPr>
          <p:nvPr/>
        </p:nvSpPr>
        <p:spPr>
          <a:xfrm>
            <a:off x="896555" y="819270"/>
            <a:ext cx="11047795" cy="8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使用模型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機器學習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KNN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LR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MLP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等等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其中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MLP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準確率最高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zh-TW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原始特徵值介紹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6FE13AB-66B2-E837-7E38-1D4ED39CE1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26125"/>
              </p:ext>
            </p:extLst>
          </p:nvPr>
        </p:nvGraphicFramePr>
        <p:xfrm>
          <a:off x="896555" y="1914645"/>
          <a:ext cx="10600120" cy="47908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00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3000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home_2FGM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>
                          <a:solidFill>
                            <a:schemeClr val="bg1"/>
                          </a:solidFill>
                        </a:rPr>
                        <a:t>兩分球命中數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home_3FGM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0" dirty="0">
                          <a:solidFill>
                            <a:schemeClr val="bg1"/>
                          </a:solidFill>
                        </a:rPr>
                        <a:t>三分球命中數</a:t>
                      </a:r>
                      <a:endParaRPr lang="zh-TW" alt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home_FTM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罰球命中數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470719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home_2FGA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兩分球出手數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975935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home_3FGA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三分球出手數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819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833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A1996-10E9-12D2-C18E-9520F7B91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3DA7C5-411D-DE8D-3402-DF09CE6A0DBD}"/>
              </a:ext>
            </a:extLst>
          </p:cNvPr>
          <p:cNvSpPr txBox="1">
            <a:spLocks/>
          </p:cNvSpPr>
          <p:nvPr/>
        </p:nvSpPr>
        <p:spPr>
          <a:xfrm>
            <a:off x="896555" y="160470"/>
            <a:ext cx="4541719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原始特徵值介紹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1CC353B-28B9-EBA3-E951-7C3E4B04A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06185"/>
              </p:ext>
            </p:extLst>
          </p:nvPr>
        </p:nvGraphicFramePr>
        <p:xfrm>
          <a:off x="896555" y="997050"/>
          <a:ext cx="10600120" cy="55893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00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3000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/>
                        <a:t>home_FTA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罰球出手數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home_OReb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進攻籃板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home_Assists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助攻數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470719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home_Fouls_Rv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獲得犯規數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975935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home_Turnovers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失誤數</a:t>
                      </a:r>
                      <a:endParaRPr lang="en-US" altLang="zh-TW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819080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>
                          <a:solidFill>
                            <a:schemeClr val="bg1"/>
                          </a:solidFill>
                        </a:rPr>
                        <a:t>home_Blocks_Ag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被蓋火鍋數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6055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74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65FAB-223F-47CA-55AC-721EE5503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5AFE54-7F55-36F9-B9B6-6FDF9AB9B703}"/>
              </a:ext>
            </a:extLst>
          </p:cNvPr>
          <p:cNvSpPr txBox="1">
            <a:spLocks/>
          </p:cNvSpPr>
          <p:nvPr/>
        </p:nvSpPr>
        <p:spPr>
          <a:xfrm>
            <a:off x="987995" y="69030"/>
            <a:ext cx="4787965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原始特徵值介紹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950FBBB-A9E8-92CD-8547-78B14D2BDE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077019"/>
              </p:ext>
            </p:extLst>
          </p:nvPr>
        </p:nvGraphicFramePr>
        <p:xfrm>
          <a:off x="987995" y="905610"/>
          <a:ext cx="10600120" cy="55893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00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3000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/>
                        <a:t>away_2FGM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兩分球命中數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away_3FGM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三分球命中數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away_FTM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罰球命中數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470719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away_2FGA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兩分球出手數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975935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/>
                        <a:t>away_3FGA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三分球出手數</a:t>
                      </a:r>
                      <a:endParaRPr lang="en-US" altLang="zh-TW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819080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away_Turnovers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失誤數</a:t>
                      </a:r>
                      <a:endParaRPr lang="en-US" altLang="zh-TW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1042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322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E577-3DDA-F5DA-DFFD-E17E63B3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296A132-5AA1-92A9-44E2-799744169050}"/>
              </a:ext>
            </a:extLst>
          </p:cNvPr>
          <p:cNvSpPr txBox="1">
            <a:spLocks/>
          </p:cNvSpPr>
          <p:nvPr/>
        </p:nvSpPr>
        <p:spPr>
          <a:xfrm>
            <a:off x="987995" y="99510"/>
            <a:ext cx="4970845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原始特徵值介紹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DA6D2AA-5CC6-85B0-648F-96FB62C181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799425"/>
              </p:ext>
            </p:extLst>
          </p:nvPr>
        </p:nvGraphicFramePr>
        <p:xfrm>
          <a:off x="987995" y="936090"/>
          <a:ext cx="10600120" cy="55893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300060">
                  <a:extLst>
                    <a:ext uri="{9D8B030D-6E8A-4147-A177-3AD203B41FA5}">
                      <a16:colId xmlns:a16="http://schemas.microsoft.com/office/drawing/2014/main" val="899961161"/>
                    </a:ext>
                  </a:extLst>
                </a:gridCol>
                <a:gridCol w="5300060">
                  <a:extLst>
                    <a:ext uri="{9D8B030D-6E8A-4147-A177-3AD203B41FA5}">
                      <a16:colId xmlns:a16="http://schemas.microsoft.com/office/drawing/2014/main" val="495409378"/>
                    </a:ext>
                  </a:extLst>
                </a:gridCol>
              </a:tblGrid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b="1" dirty="0">
                          <a:solidFill>
                            <a:schemeClr val="bg1"/>
                          </a:solidFill>
                        </a:rPr>
                        <a:t>介紹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224332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/>
                        <a:t>away_FTA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罰球出手數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727967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home_DReb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防守籃板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23793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home_Steals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抄截數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470719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>
                          <a:solidFill>
                            <a:schemeClr val="bg1"/>
                          </a:solidFill>
                        </a:rPr>
                        <a:t>home_Blocks_Fv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蓋火鍋數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1975935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dirty="0" err="1"/>
                        <a:t>away_OReb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進攻籃板</a:t>
                      </a:r>
                      <a:endParaRPr lang="en-US" altLang="zh-TW" sz="280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2819080"/>
                  </a:ext>
                </a:extLst>
              </a:tr>
              <a:tr h="7984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err="1"/>
                        <a:t>home_Fouls_Com</a:t>
                      </a:r>
                      <a:endParaRPr lang="zh-TW" altLang="en-US" sz="28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 dirty="0">
                          <a:solidFill>
                            <a:schemeClr val="bg1"/>
                          </a:solidFill>
                        </a:rPr>
                        <a:t>犯規次數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150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697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A946E5-54D5-C9A4-0DEB-3EF608A0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51" y="1047750"/>
            <a:ext cx="9875498" cy="4762500"/>
          </a:xfrm>
        </p:spPr>
        <p:txBody>
          <a:bodyPr>
            <a:normAutofit/>
          </a:bodyPr>
          <a:lstStyle/>
          <a:p>
            <a:pPr algn="ctr"/>
            <a:r>
              <a:rPr lang="zh-TW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最佳特徵組合</a:t>
            </a:r>
            <a:br>
              <a:rPr lang="en-US" altLang="zh-TW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altLang="zh-TW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zh-TW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特徵工程</a:t>
            </a:r>
            <a:br>
              <a:rPr lang="en-US" altLang="zh-TW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TW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特徵數</a:t>
            </a:r>
            <a:r>
              <a:rPr lang="en-US" altLang="zh-TW" sz="7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:10)</a:t>
            </a:r>
            <a:endParaRPr lang="zh-TW" altLang="en-US" sz="7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7307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DD0DA-575D-734C-1C2A-29D75AA0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06EB61BA-59B7-F6BA-02B4-06ACE02AF9B6}"/>
              </a:ext>
            </a:extLst>
          </p:cNvPr>
          <p:cNvSpPr txBox="1">
            <a:spLocks/>
          </p:cNvSpPr>
          <p:nvPr/>
        </p:nvSpPr>
        <p:spPr>
          <a:xfrm>
            <a:off x="987995" y="3031156"/>
            <a:ext cx="11204005" cy="31238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home_i_defense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防守指標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/>
              <a:t>-(away_2FGM + away_3FGM + </a:t>
            </a:r>
            <a:r>
              <a:rPr lang="en-US" altLang="zh-TW" sz="2800" dirty="0" err="1"/>
              <a:t>away_FTM</a:t>
            </a:r>
            <a:r>
              <a:rPr lang="en-US" altLang="zh-TW" sz="2800" dirty="0"/>
              <a:t>) + (away_2FGA-away_2FGM + away_3FGA- away_3FGM + </a:t>
            </a:r>
            <a:r>
              <a:rPr lang="en-US" altLang="zh-TW" sz="2800" dirty="0" err="1"/>
              <a:t>away_FTA-away_FTM</a:t>
            </a:r>
            <a:r>
              <a:rPr lang="en-US" altLang="zh-TW" sz="2800" dirty="0"/>
              <a:t>) + </a:t>
            </a:r>
            <a:r>
              <a:rPr lang="en-US" altLang="zh-TW" sz="2800" dirty="0" err="1"/>
              <a:t>home_DReb</a:t>
            </a:r>
            <a:r>
              <a:rPr lang="en-US" altLang="zh-TW" sz="2800" dirty="0"/>
              <a:t> + </a:t>
            </a:r>
            <a:r>
              <a:rPr lang="en-US" altLang="zh-TW" sz="2800" dirty="0" err="1"/>
              <a:t>home_Steals</a:t>
            </a:r>
            <a:r>
              <a:rPr lang="en-US" altLang="zh-TW" sz="2800" dirty="0"/>
              <a:t> + </a:t>
            </a:r>
            <a:r>
              <a:rPr lang="en-US" altLang="zh-TW" sz="2800" dirty="0" err="1"/>
              <a:t>home_Blocks_Fv</a:t>
            </a:r>
            <a:r>
              <a:rPr lang="en-US" altLang="zh-TW" sz="2800" dirty="0"/>
              <a:t>- </a:t>
            </a:r>
            <a:r>
              <a:rPr lang="en-US" altLang="zh-TW" sz="2800" dirty="0" err="1"/>
              <a:t>away_OReb-home_Fouls_Com</a:t>
            </a:r>
            <a:r>
              <a:rPr lang="en-US" altLang="zh-TW" sz="2800" dirty="0"/>
              <a:t> 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F0D63E74-345C-1E0C-8798-0CFF6C93B5A9}"/>
              </a:ext>
            </a:extLst>
          </p:cNvPr>
          <p:cNvSpPr txBox="1">
            <a:spLocks/>
          </p:cNvSpPr>
          <p:nvPr/>
        </p:nvSpPr>
        <p:spPr>
          <a:xfrm>
            <a:off x="987995" y="396240"/>
            <a:ext cx="10332918" cy="26349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home_i_offense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進攻指標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/>
              <a:t>home_2FGM + home_3FGM + </a:t>
            </a:r>
            <a:r>
              <a:rPr lang="en-US" altLang="zh-TW" sz="2800" dirty="0" err="1"/>
              <a:t>home_FTM</a:t>
            </a:r>
            <a:r>
              <a:rPr lang="en-US" altLang="zh-TW" sz="2800" dirty="0"/>
              <a:t>-(home_2FGA-home_2FGM + home_3FGA- home_3FGM + </a:t>
            </a:r>
            <a:r>
              <a:rPr lang="en-US" altLang="zh-TW" sz="2800" dirty="0" err="1"/>
              <a:t>home_FTA-home_FTM</a:t>
            </a:r>
            <a:r>
              <a:rPr lang="en-US" altLang="zh-TW" sz="2800" dirty="0"/>
              <a:t>) + </a:t>
            </a:r>
            <a:r>
              <a:rPr lang="en-US" altLang="zh-TW" sz="2800" dirty="0" err="1"/>
              <a:t>home_OReb</a:t>
            </a:r>
            <a:r>
              <a:rPr lang="en-US" altLang="zh-TW" sz="2800" dirty="0"/>
              <a:t> + </a:t>
            </a:r>
            <a:r>
              <a:rPr lang="en-US" altLang="zh-TW" sz="2800" dirty="0" err="1"/>
              <a:t>home_Assists</a:t>
            </a:r>
            <a:r>
              <a:rPr lang="en-US" altLang="zh-TW" sz="2800" dirty="0"/>
              <a:t> + </a:t>
            </a:r>
            <a:r>
              <a:rPr lang="en-US" altLang="zh-TW" sz="2800" dirty="0" err="1"/>
              <a:t>home_Fouls_Rv</a:t>
            </a:r>
            <a:r>
              <a:rPr lang="en-US" altLang="zh-TW" sz="2800" dirty="0"/>
              <a:t>- </a:t>
            </a:r>
            <a:r>
              <a:rPr lang="en-US" altLang="zh-TW" sz="2800" dirty="0" err="1"/>
              <a:t>home_Turnovers-home_Blocks_Ag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59538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7FF4A-2B13-D200-1B73-83C4873F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A00788-26D2-0416-7E6F-623015ABE917}"/>
              </a:ext>
            </a:extLst>
          </p:cNvPr>
          <p:cNvSpPr txBox="1">
            <a:spLocks/>
          </p:cNvSpPr>
          <p:nvPr/>
        </p:nvSpPr>
        <p:spPr>
          <a:xfrm>
            <a:off x="987995" y="373830"/>
            <a:ext cx="3157285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進攻端特徵值介紹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69CE6023-258F-4889-37FA-6E8CBF12E36E}"/>
              </a:ext>
            </a:extLst>
          </p:cNvPr>
          <p:cNvSpPr txBox="1">
            <a:spLocks/>
          </p:cNvSpPr>
          <p:nvPr/>
        </p:nvSpPr>
        <p:spPr>
          <a:xfrm>
            <a:off x="987995" y="1207428"/>
            <a:ext cx="10076245" cy="19167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/>
              <a:t>home_offense_efgp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有效命中率</a:t>
            </a:r>
            <a:r>
              <a:rPr lang="en-US" altLang="zh-TW" sz="2800" b="1" dirty="0"/>
              <a:t>)</a:t>
            </a:r>
            <a:r>
              <a:rPr lang="zh-TW" altLang="en-US" sz="2800" b="1" dirty="0"/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/>
              <a:t>home_2FGM + home_3FGM + (0.5 ∗home_3FGM))/(home_2FGA + home_3FGA) 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8538799B-10A7-4801-47C5-107C042CA0BF}"/>
              </a:ext>
            </a:extLst>
          </p:cNvPr>
          <p:cNvSpPr txBox="1">
            <a:spLocks/>
          </p:cNvSpPr>
          <p:nvPr/>
        </p:nvSpPr>
        <p:spPr>
          <a:xfrm>
            <a:off x="987994" y="3733800"/>
            <a:ext cx="10076245" cy="19167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/>
              <a:t>home_offense_tp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失誤率</a:t>
            </a:r>
            <a:r>
              <a:rPr lang="en-US" altLang="zh-TW" sz="2800" b="1" dirty="0"/>
              <a:t>)</a:t>
            </a:r>
            <a:r>
              <a:rPr lang="zh-TW" altLang="en-US" sz="2800" b="1" dirty="0"/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 err="1"/>
              <a:t>home_Turnovers</a:t>
            </a:r>
            <a:r>
              <a:rPr lang="en-US" altLang="zh-TW" sz="2800" dirty="0"/>
              <a:t>/(home_2FGA + home_3FGA + (0.44 ∗</a:t>
            </a:r>
            <a:r>
              <a:rPr lang="en-US" altLang="zh-TW" sz="2800" dirty="0" err="1"/>
              <a:t>home_FTA</a:t>
            </a:r>
            <a:r>
              <a:rPr lang="en-US" altLang="zh-TW" sz="2800" dirty="0"/>
              <a:t>)-</a:t>
            </a:r>
            <a:r>
              <a:rPr lang="en-US" altLang="zh-TW" sz="2800" dirty="0" err="1"/>
              <a:t>home_OReb</a:t>
            </a:r>
            <a:r>
              <a:rPr lang="en-US" altLang="zh-TW" sz="2800" dirty="0"/>
              <a:t> + </a:t>
            </a:r>
            <a:r>
              <a:rPr lang="en-US" altLang="zh-TW" sz="2800" dirty="0" err="1"/>
              <a:t>home_Turnovers</a:t>
            </a:r>
            <a:r>
              <a:rPr lang="en-US" altLang="zh-TW" sz="2800" dirty="0"/>
              <a:t>)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0420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EDA91-2705-6AC3-A5D6-063049D1A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D58E0D-5C91-301E-329D-2D892D4831E7}"/>
              </a:ext>
            </a:extLst>
          </p:cNvPr>
          <p:cNvSpPr txBox="1">
            <a:spLocks/>
          </p:cNvSpPr>
          <p:nvPr/>
        </p:nvSpPr>
        <p:spPr>
          <a:xfrm>
            <a:off x="987995" y="373830"/>
            <a:ext cx="3157285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進攻端特徵值介紹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FCB19A2F-8241-03D8-2D7A-AAA6C87FB47D}"/>
              </a:ext>
            </a:extLst>
          </p:cNvPr>
          <p:cNvSpPr txBox="1">
            <a:spLocks/>
          </p:cNvSpPr>
          <p:nvPr/>
        </p:nvSpPr>
        <p:spPr>
          <a:xfrm>
            <a:off x="987994" y="1317051"/>
            <a:ext cx="6814885" cy="14290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/>
              <a:t>home_offense_orp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進攻籃板率</a:t>
            </a:r>
            <a:r>
              <a:rPr lang="en-US" altLang="zh-TW" sz="2800" b="1" dirty="0"/>
              <a:t>)</a:t>
            </a:r>
            <a:r>
              <a:rPr lang="zh-TW" altLang="en-US" sz="2800" b="1" dirty="0"/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/>
              <a:t>(</a:t>
            </a:r>
            <a:r>
              <a:rPr lang="en-US" altLang="zh-TW" sz="2800" dirty="0" err="1"/>
              <a:t>home_OReb</a:t>
            </a:r>
            <a:r>
              <a:rPr lang="en-US" altLang="zh-TW" sz="2800" dirty="0"/>
              <a:t>)/(</a:t>
            </a:r>
            <a:r>
              <a:rPr lang="en-US" altLang="zh-TW" sz="2800" dirty="0" err="1"/>
              <a:t>home_OReb</a:t>
            </a:r>
            <a:r>
              <a:rPr lang="en-US" altLang="zh-TW" sz="2800" dirty="0"/>
              <a:t> + </a:t>
            </a:r>
            <a:r>
              <a:rPr lang="en-US" altLang="zh-TW" sz="2800" dirty="0" err="1"/>
              <a:t>away_DReb</a:t>
            </a:r>
            <a:r>
              <a:rPr lang="en-US" altLang="zh-TW" sz="2800" dirty="0"/>
              <a:t>) 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B0D766FB-5E5B-F8AB-108E-F6E185920360}"/>
              </a:ext>
            </a:extLst>
          </p:cNvPr>
          <p:cNvSpPr txBox="1">
            <a:spLocks/>
          </p:cNvSpPr>
          <p:nvPr/>
        </p:nvSpPr>
        <p:spPr>
          <a:xfrm>
            <a:off x="987994" y="3032760"/>
            <a:ext cx="10076245" cy="19167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/>
              <a:t>home_offense_ftr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罰球率</a:t>
            </a:r>
            <a:r>
              <a:rPr lang="en-US" altLang="zh-TW" sz="2800" b="1" dirty="0"/>
              <a:t>)</a:t>
            </a:r>
            <a:r>
              <a:rPr lang="zh-TW" altLang="en-US" sz="2800" b="1" dirty="0"/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/>
              <a:t>(</a:t>
            </a:r>
            <a:r>
              <a:rPr lang="en-US" altLang="zh-TW" sz="2800" dirty="0" err="1"/>
              <a:t>home_FTA</a:t>
            </a:r>
            <a:r>
              <a:rPr lang="en-US" altLang="zh-TW" sz="2800" dirty="0"/>
              <a:t>)/(home_2FGA + home_3FGA) 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9316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9B13D-3D43-C70C-96AD-AF00EF5DB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898378-7D13-53CF-DDC4-7F1A0C093D10}"/>
              </a:ext>
            </a:extLst>
          </p:cNvPr>
          <p:cNvSpPr txBox="1">
            <a:spLocks/>
          </p:cNvSpPr>
          <p:nvPr/>
        </p:nvSpPr>
        <p:spPr>
          <a:xfrm>
            <a:off x="987995" y="373830"/>
            <a:ext cx="3157285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防守端特徵值介紹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CEEC97D7-46B8-6D32-72A8-559C72282047}"/>
              </a:ext>
            </a:extLst>
          </p:cNvPr>
          <p:cNvSpPr txBox="1">
            <a:spLocks/>
          </p:cNvSpPr>
          <p:nvPr/>
        </p:nvSpPr>
        <p:spPr>
          <a:xfrm>
            <a:off x="987995" y="1317050"/>
            <a:ext cx="10076244" cy="15937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/>
              <a:t>home_defense_efgp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允許有效命中率</a:t>
            </a:r>
            <a:r>
              <a:rPr lang="en-US" altLang="zh-TW" sz="2800" b="1" dirty="0"/>
              <a:t>)</a:t>
            </a:r>
            <a:r>
              <a:rPr lang="zh-TW" altLang="en-US" sz="2800" b="1" dirty="0"/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/>
              <a:t>(away_2FGM + away_3FGM + (0.5 ∗away_3FGM))/(away_2FGA + away_3FGA) 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F96CB604-E12C-D925-CFB3-CA7F7255C885}"/>
              </a:ext>
            </a:extLst>
          </p:cNvPr>
          <p:cNvSpPr txBox="1">
            <a:spLocks/>
          </p:cNvSpPr>
          <p:nvPr/>
        </p:nvSpPr>
        <p:spPr>
          <a:xfrm>
            <a:off x="987995" y="3429000"/>
            <a:ext cx="10076244" cy="19841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/>
              <a:t>home_defense_tp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迫使失誤率</a:t>
            </a:r>
            <a:r>
              <a:rPr lang="en-US" altLang="zh-TW" sz="2800" b="1" dirty="0"/>
              <a:t>)</a:t>
            </a:r>
            <a:r>
              <a:rPr lang="zh-TW" altLang="en-US" sz="2800" b="1" dirty="0"/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 err="1"/>
              <a:t>away_Turnovers</a:t>
            </a:r>
            <a:r>
              <a:rPr lang="en-US" altLang="zh-TW" sz="2800" dirty="0"/>
              <a:t>/(away_2FGA + away_3FGA + (0.44 ∗</a:t>
            </a:r>
            <a:r>
              <a:rPr lang="en-US" altLang="zh-TW" sz="2800" dirty="0" err="1"/>
              <a:t>away_FTA</a:t>
            </a:r>
            <a:r>
              <a:rPr lang="en-US" altLang="zh-TW" sz="2800" dirty="0"/>
              <a:t>)-</a:t>
            </a:r>
            <a:r>
              <a:rPr lang="en-US" altLang="zh-TW" sz="2800" dirty="0" err="1"/>
              <a:t>away_OReb</a:t>
            </a:r>
            <a:r>
              <a:rPr lang="en-US" altLang="zh-TW" sz="2800" dirty="0"/>
              <a:t> + </a:t>
            </a:r>
            <a:r>
              <a:rPr lang="en-US" altLang="zh-TW" sz="2800" dirty="0" err="1"/>
              <a:t>away_Turnovers</a:t>
            </a:r>
            <a:r>
              <a:rPr lang="en-US" altLang="zh-TW" sz="2800" dirty="0"/>
              <a:t>) 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68328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B44D2-0242-F3CC-1830-99390B6D4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997F77-9609-CBD2-2CEE-4361D13BEE0A}"/>
              </a:ext>
            </a:extLst>
          </p:cNvPr>
          <p:cNvSpPr txBox="1">
            <a:spLocks/>
          </p:cNvSpPr>
          <p:nvPr/>
        </p:nvSpPr>
        <p:spPr>
          <a:xfrm>
            <a:off x="987995" y="373830"/>
            <a:ext cx="3157285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防守端特徵值介紹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D1D4A4AE-5446-F203-24CD-4D51E4C70C1E}"/>
              </a:ext>
            </a:extLst>
          </p:cNvPr>
          <p:cNvSpPr txBox="1">
            <a:spLocks/>
          </p:cNvSpPr>
          <p:nvPr/>
        </p:nvSpPr>
        <p:spPr>
          <a:xfrm>
            <a:off x="987994" y="1317050"/>
            <a:ext cx="9299006" cy="17157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/>
              <a:t>home_defense_orp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允許進攻籃板率</a:t>
            </a:r>
            <a:r>
              <a:rPr lang="en-US" altLang="zh-TW" sz="2800" b="1" dirty="0"/>
              <a:t>)</a:t>
            </a:r>
            <a:r>
              <a:rPr lang="zh-TW" altLang="en-US" sz="2800" b="1" dirty="0"/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/>
              <a:t>(</a:t>
            </a:r>
            <a:r>
              <a:rPr lang="en-US" altLang="zh-TW" sz="2800" dirty="0" err="1"/>
              <a:t>away_OReb</a:t>
            </a:r>
            <a:r>
              <a:rPr lang="en-US" altLang="zh-TW" sz="2800" dirty="0"/>
              <a:t>)/(</a:t>
            </a:r>
            <a:r>
              <a:rPr lang="en-US" altLang="zh-TW" sz="2800" dirty="0" err="1"/>
              <a:t>away_OReb</a:t>
            </a:r>
            <a:r>
              <a:rPr lang="en-US" altLang="zh-TW" sz="2800" dirty="0"/>
              <a:t> + </a:t>
            </a:r>
            <a:r>
              <a:rPr lang="en-US" altLang="zh-TW" sz="2800" dirty="0" err="1"/>
              <a:t>home_DReb</a:t>
            </a:r>
            <a:r>
              <a:rPr lang="en-US" altLang="zh-TW" sz="2800" dirty="0"/>
              <a:t>) 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648F2480-6C17-D1D1-4421-288051647797}"/>
              </a:ext>
            </a:extLst>
          </p:cNvPr>
          <p:cNvSpPr txBox="1">
            <a:spLocks/>
          </p:cNvSpPr>
          <p:nvPr/>
        </p:nvSpPr>
        <p:spPr>
          <a:xfrm>
            <a:off x="987995" y="3319375"/>
            <a:ext cx="9299005" cy="17157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b="1" dirty="0" err="1"/>
              <a:t>home_defense_ftr</a:t>
            </a:r>
            <a:r>
              <a:rPr lang="zh-TW" altLang="en-US" sz="2800" b="1" dirty="0"/>
              <a:t> </a:t>
            </a:r>
            <a:r>
              <a:rPr lang="en-US" altLang="zh-TW" sz="2800" b="1" dirty="0"/>
              <a:t>(</a:t>
            </a:r>
            <a:r>
              <a:rPr lang="zh-TW" altLang="en-US" sz="2800" b="1" dirty="0"/>
              <a:t>允許罰球率</a:t>
            </a:r>
            <a:r>
              <a:rPr lang="en-US" altLang="zh-TW" sz="2800" b="1" dirty="0"/>
              <a:t>)</a:t>
            </a:r>
            <a:r>
              <a:rPr lang="zh-TW" altLang="en-US" sz="2800" b="1" dirty="0"/>
              <a:t>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r>
              <a:rPr lang="en-US" altLang="zh-TW" sz="2800" dirty="0"/>
              <a:t>(</a:t>
            </a:r>
            <a:r>
              <a:rPr lang="en-US" altLang="zh-TW" sz="2800" dirty="0" err="1"/>
              <a:t>away_FTA</a:t>
            </a:r>
            <a:r>
              <a:rPr lang="en-US" altLang="zh-TW" sz="2800" dirty="0"/>
              <a:t>)/(away_2FGA + away_3FGA) 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406501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DFA93-F67E-552F-D52B-446F95AD4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00B337F-5295-180A-99DC-D1FD6EAADD7E}"/>
              </a:ext>
            </a:extLst>
          </p:cNvPr>
          <p:cNvSpPr txBox="1">
            <a:spLocks/>
          </p:cNvSpPr>
          <p:nvPr/>
        </p:nvSpPr>
        <p:spPr>
          <a:xfrm>
            <a:off x="915607" y="190730"/>
            <a:ext cx="1865694" cy="7619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實驗數據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238EA6D-5245-78C4-1908-6C01247CFFCC}"/>
              </a:ext>
            </a:extLst>
          </p:cNvPr>
          <p:cNvSpPr txBox="1"/>
          <p:nvPr/>
        </p:nvSpPr>
        <p:spPr>
          <a:xfrm>
            <a:off x="2818815" y="6296450"/>
            <a:ext cx="61872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dirty="0"/>
              <a:t>(</a:t>
            </a:r>
            <a:r>
              <a:rPr lang="zh-TW" altLang="en-US" sz="2400" dirty="0"/>
              <a:t>見</a:t>
            </a:r>
            <a:r>
              <a:rPr lang="en-US" altLang="zh-TW" sz="2400" dirty="0"/>
              <a:t>Mun, Cha, Lee,</a:t>
            </a:r>
            <a:r>
              <a:rPr lang="zh-TW" altLang="en-US" sz="2400" dirty="0"/>
              <a:t> </a:t>
            </a:r>
            <a:r>
              <a:rPr lang="en-US" altLang="zh-TW" sz="2400" dirty="0"/>
              <a:t>Kim, &amp; Jo, 2023, TABLE</a:t>
            </a:r>
            <a:r>
              <a:rPr lang="zh-TW" altLang="en-US" sz="2400" dirty="0"/>
              <a:t> </a:t>
            </a:r>
            <a:r>
              <a:rPr lang="en-US" altLang="zh-TW" sz="2400" dirty="0"/>
              <a:t>VI)</a:t>
            </a: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536E2E-F77F-7CE9-1B68-95A620419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879" y="952670"/>
            <a:ext cx="9709087" cy="52187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6CDDF029-6512-28D0-CD44-29DBB2F79294}"/>
                  </a:ext>
                </a:extLst>
              </p14:cNvPr>
              <p14:cNvContentPartPr/>
              <p14:nvPr/>
            </p14:nvContentPartPr>
            <p14:xfrm>
              <a:off x="1199985" y="3599850"/>
              <a:ext cx="158760" cy="3564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6CDDF029-6512-28D0-CD44-29DBB2F792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1985" y="3563850"/>
                <a:ext cx="19440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3C24CD02-E601-EAFD-5C75-6B06C2BEBB26}"/>
                  </a:ext>
                </a:extLst>
              </p14:cNvPr>
              <p14:cNvContentPartPr/>
              <p14:nvPr/>
            </p14:nvContentPartPr>
            <p14:xfrm>
              <a:off x="2180985" y="3600210"/>
              <a:ext cx="514800" cy="720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3C24CD02-E601-EAFD-5C75-6B06C2BEBB2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62985" y="3528210"/>
                <a:ext cx="5504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38E6D24B-FCEE-2CBA-1CE5-61AC5E1973A4}"/>
                  </a:ext>
                </a:extLst>
              </p14:cNvPr>
              <p14:cNvContentPartPr/>
              <p14:nvPr/>
            </p14:nvContentPartPr>
            <p14:xfrm>
              <a:off x="3124185" y="3609570"/>
              <a:ext cx="84600" cy="10080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38E6D24B-FCEE-2CBA-1CE5-61AC5E1973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06185" y="3573930"/>
                <a:ext cx="12024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034F5181-68E0-0225-5588-21AD15E46F02}"/>
                  </a:ext>
                </a:extLst>
              </p14:cNvPr>
              <p14:cNvContentPartPr/>
              <p14:nvPr/>
            </p14:nvContentPartPr>
            <p14:xfrm>
              <a:off x="4095465" y="3600210"/>
              <a:ext cx="267120" cy="720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034F5181-68E0-0225-5588-21AD15E46F0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077825" y="3528210"/>
                <a:ext cx="30276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4" name="筆跡 13">
                <a:extLst>
                  <a:ext uri="{FF2B5EF4-FFF2-40B4-BE49-F238E27FC236}">
                    <a16:creationId xmlns:a16="http://schemas.microsoft.com/office/drawing/2014/main" id="{AA5F0BE3-4E4E-2FD8-3389-D96D437920A9}"/>
                  </a:ext>
                </a:extLst>
              </p14:cNvPr>
              <p14:cNvContentPartPr/>
              <p14:nvPr/>
            </p14:nvContentPartPr>
            <p14:xfrm>
              <a:off x="4114545" y="3621450"/>
              <a:ext cx="268200" cy="7920"/>
            </p14:xfrm>
          </p:contentPart>
        </mc:Choice>
        <mc:Fallback xmlns="">
          <p:pic>
            <p:nvPicPr>
              <p:cNvPr id="14" name="筆跡 13">
                <a:extLst>
                  <a:ext uri="{FF2B5EF4-FFF2-40B4-BE49-F238E27FC236}">
                    <a16:creationId xmlns:a16="http://schemas.microsoft.com/office/drawing/2014/main" id="{AA5F0BE3-4E4E-2FD8-3389-D96D437920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96905" y="3585810"/>
                <a:ext cx="3038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筆跡 14">
                <a:extLst>
                  <a:ext uri="{FF2B5EF4-FFF2-40B4-BE49-F238E27FC236}">
                    <a16:creationId xmlns:a16="http://schemas.microsoft.com/office/drawing/2014/main" id="{45B47A26-05A2-2CD4-D3C1-5D5DF6D41A25}"/>
                  </a:ext>
                </a:extLst>
              </p14:cNvPr>
              <p14:cNvContentPartPr/>
              <p14:nvPr/>
            </p14:nvContentPartPr>
            <p14:xfrm>
              <a:off x="5076825" y="3579330"/>
              <a:ext cx="699840" cy="50400"/>
            </p14:xfrm>
          </p:contentPart>
        </mc:Choice>
        <mc:Fallback xmlns="">
          <p:pic>
            <p:nvPicPr>
              <p:cNvPr id="15" name="筆跡 14">
                <a:extLst>
                  <a:ext uri="{FF2B5EF4-FFF2-40B4-BE49-F238E27FC236}">
                    <a16:creationId xmlns:a16="http://schemas.microsoft.com/office/drawing/2014/main" id="{45B47A26-05A2-2CD4-D3C1-5D5DF6D41A2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58825" y="3543330"/>
                <a:ext cx="73548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6" name="筆跡 15">
                <a:extLst>
                  <a:ext uri="{FF2B5EF4-FFF2-40B4-BE49-F238E27FC236}">
                    <a16:creationId xmlns:a16="http://schemas.microsoft.com/office/drawing/2014/main" id="{8A818998-CF14-ABBD-9789-084BDA8427CE}"/>
                  </a:ext>
                </a:extLst>
              </p14:cNvPr>
              <p14:cNvContentPartPr/>
              <p14:nvPr/>
            </p14:nvContentPartPr>
            <p14:xfrm>
              <a:off x="5057745" y="3771210"/>
              <a:ext cx="608760" cy="29880"/>
            </p14:xfrm>
          </p:contentPart>
        </mc:Choice>
        <mc:Fallback xmlns="">
          <p:pic>
            <p:nvPicPr>
              <p:cNvPr id="16" name="筆跡 15">
                <a:extLst>
                  <a:ext uri="{FF2B5EF4-FFF2-40B4-BE49-F238E27FC236}">
                    <a16:creationId xmlns:a16="http://schemas.microsoft.com/office/drawing/2014/main" id="{8A818998-CF14-ABBD-9789-084BDA8427C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040105" y="3735570"/>
                <a:ext cx="64440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7" name="筆跡 16">
                <a:extLst>
                  <a:ext uri="{FF2B5EF4-FFF2-40B4-BE49-F238E27FC236}">
                    <a16:creationId xmlns:a16="http://schemas.microsoft.com/office/drawing/2014/main" id="{44BEA1D0-B6B3-D41D-5E0B-2C6402FD9B1A}"/>
                  </a:ext>
                </a:extLst>
              </p14:cNvPr>
              <p14:cNvContentPartPr/>
              <p14:nvPr/>
            </p14:nvContentPartPr>
            <p14:xfrm>
              <a:off x="5124345" y="3619650"/>
              <a:ext cx="561240" cy="19800"/>
            </p14:xfrm>
          </p:contentPart>
        </mc:Choice>
        <mc:Fallback xmlns="">
          <p:pic>
            <p:nvPicPr>
              <p:cNvPr id="17" name="筆跡 16">
                <a:extLst>
                  <a:ext uri="{FF2B5EF4-FFF2-40B4-BE49-F238E27FC236}">
                    <a16:creationId xmlns:a16="http://schemas.microsoft.com/office/drawing/2014/main" id="{44BEA1D0-B6B3-D41D-5E0B-2C6402FD9B1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06705" y="3583650"/>
                <a:ext cx="5968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筆跡 17">
                <a:extLst>
                  <a:ext uri="{FF2B5EF4-FFF2-40B4-BE49-F238E27FC236}">
                    <a16:creationId xmlns:a16="http://schemas.microsoft.com/office/drawing/2014/main" id="{1E7E8118-9210-E754-CCD2-DC8BB7288AB3}"/>
                  </a:ext>
                </a:extLst>
              </p14:cNvPr>
              <p14:cNvContentPartPr/>
              <p14:nvPr/>
            </p14:nvContentPartPr>
            <p14:xfrm>
              <a:off x="5095545" y="3552690"/>
              <a:ext cx="246960" cy="29160"/>
            </p14:xfrm>
          </p:contentPart>
        </mc:Choice>
        <mc:Fallback xmlns="">
          <p:pic>
            <p:nvPicPr>
              <p:cNvPr id="18" name="筆跡 17">
                <a:extLst>
                  <a:ext uri="{FF2B5EF4-FFF2-40B4-BE49-F238E27FC236}">
                    <a16:creationId xmlns:a16="http://schemas.microsoft.com/office/drawing/2014/main" id="{1E7E8118-9210-E754-CCD2-DC8BB7288AB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077905" y="3517050"/>
                <a:ext cx="2826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9" name="筆跡 18">
                <a:extLst>
                  <a:ext uri="{FF2B5EF4-FFF2-40B4-BE49-F238E27FC236}">
                    <a16:creationId xmlns:a16="http://schemas.microsoft.com/office/drawing/2014/main" id="{2D4AC419-1552-F0A5-D433-9D51A0EE562C}"/>
                  </a:ext>
                </a:extLst>
              </p14:cNvPr>
              <p14:cNvContentPartPr/>
              <p14:nvPr/>
            </p14:nvContentPartPr>
            <p14:xfrm>
              <a:off x="7915425" y="3599850"/>
              <a:ext cx="237240" cy="20160"/>
            </p14:xfrm>
          </p:contentPart>
        </mc:Choice>
        <mc:Fallback xmlns="">
          <p:pic>
            <p:nvPicPr>
              <p:cNvPr id="19" name="筆跡 18">
                <a:extLst>
                  <a:ext uri="{FF2B5EF4-FFF2-40B4-BE49-F238E27FC236}">
                    <a16:creationId xmlns:a16="http://schemas.microsoft.com/office/drawing/2014/main" id="{2D4AC419-1552-F0A5-D433-9D51A0EE562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897425" y="3563850"/>
                <a:ext cx="2728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筆跡 19">
                <a:extLst>
                  <a:ext uri="{FF2B5EF4-FFF2-40B4-BE49-F238E27FC236}">
                    <a16:creationId xmlns:a16="http://schemas.microsoft.com/office/drawing/2014/main" id="{54A61031-C892-DE2A-748A-1CBB38843B4C}"/>
                  </a:ext>
                </a:extLst>
              </p14:cNvPr>
              <p14:cNvContentPartPr/>
              <p14:nvPr/>
            </p14:nvContentPartPr>
            <p14:xfrm>
              <a:off x="7924785" y="3638010"/>
              <a:ext cx="256320" cy="10440"/>
            </p14:xfrm>
          </p:contentPart>
        </mc:Choice>
        <mc:Fallback xmlns="">
          <p:pic>
            <p:nvPicPr>
              <p:cNvPr id="20" name="筆跡 19">
                <a:extLst>
                  <a:ext uri="{FF2B5EF4-FFF2-40B4-BE49-F238E27FC236}">
                    <a16:creationId xmlns:a16="http://schemas.microsoft.com/office/drawing/2014/main" id="{54A61031-C892-DE2A-748A-1CBB38843B4C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906785" y="3602010"/>
                <a:ext cx="2919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1" name="筆跡 20">
                <a:extLst>
                  <a:ext uri="{FF2B5EF4-FFF2-40B4-BE49-F238E27FC236}">
                    <a16:creationId xmlns:a16="http://schemas.microsoft.com/office/drawing/2014/main" id="{E7D7680D-C19E-8C0C-38AA-559509854C45}"/>
                  </a:ext>
                </a:extLst>
              </p14:cNvPr>
              <p14:cNvContentPartPr/>
              <p14:nvPr/>
            </p14:nvContentPartPr>
            <p14:xfrm>
              <a:off x="8867625" y="3619650"/>
              <a:ext cx="496800" cy="20520"/>
            </p14:xfrm>
          </p:contentPart>
        </mc:Choice>
        <mc:Fallback xmlns="">
          <p:pic>
            <p:nvPicPr>
              <p:cNvPr id="21" name="筆跡 20">
                <a:extLst>
                  <a:ext uri="{FF2B5EF4-FFF2-40B4-BE49-F238E27FC236}">
                    <a16:creationId xmlns:a16="http://schemas.microsoft.com/office/drawing/2014/main" id="{E7D7680D-C19E-8C0C-38AA-559509854C4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849625" y="3583650"/>
                <a:ext cx="53244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2" name="筆跡 21">
                <a:extLst>
                  <a:ext uri="{FF2B5EF4-FFF2-40B4-BE49-F238E27FC236}">
                    <a16:creationId xmlns:a16="http://schemas.microsoft.com/office/drawing/2014/main" id="{4CDDD0F5-DEFE-6519-3601-D61A9CEEC66E}"/>
                  </a:ext>
                </a:extLst>
              </p14:cNvPr>
              <p14:cNvContentPartPr/>
              <p14:nvPr/>
            </p14:nvContentPartPr>
            <p14:xfrm>
              <a:off x="8905785" y="3533250"/>
              <a:ext cx="447120" cy="20160"/>
            </p14:xfrm>
          </p:contentPart>
        </mc:Choice>
        <mc:Fallback xmlns="">
          <p:pic>
            <p:nvPicPr>
              <p:cNvPr id="22" name="筆跡 21">
                <a:extLst>
                  <a:ext uri="{FF2B5EF4-FFF2-40B4-BE49-F238E27FC236}">
                    <a16:creationId xmlns:a16="http://schemas.microsoft.com/office/drawing/2014/main" id="{4CDDD0F5-DEFE-6519-3601-D61A9CEEC66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887785" y="3497250"/>
                <a:ext cx="48276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筆跡 22">
                <a:extLst>
                  <a:ext uri="{FF2B5EF4-FFF2-40B4-BE49-F238E27FC236}">
                    <a16:creationId xmlns:a16="http://schemas.microsoft.com/office/drawing/2014/main" id="{DAE68835-845D-613F-E914-9F6973AD7F53}"/>
                  </a:ext>
                </a:extLst>
              </p14:cNvPr>
              <p14:cNvContentPartPr/>
              <p14:nvPr/>
            </p14:nvContentPartPr>
            <p14:xfrm>
              <a:off x="8924505" y="3571770"/>
              <a:ext cx="408960" cy="20880"/>
            </p14:xfrm>
          </p:contentPart>
        </mc:Choice>
        <mc:Fallback xmlns="">
          <p:pic>
            <p:nvPicPr>
              <p:cNvPr id="23" name="筆跡 22">
                <a:extLst>
                  <a:ext uri="{FF2B5EF4-FFF2-40B4-BE49-F238E27FC236}">
                    <a16:creationId xmlns:a16="http://schemas.microsoft.com/office/drawing/2014/main" id="{DAE68835-845D-613F-E914-9F6973AD7F5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906865" y="3535770"/>
                <a:ext cx="44460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4" name="筆跡 23">
                <a:extLst>
                  <a:ext uri="{FF2B5EF4-FFF2-40B4-BE49-F238E27FC236}">
                    <a16:creationId xmlns:a16="http://schemas.microsoft.com/office/drawing/2014/main" id="{32D8B7D4-4DA1-74B4-020E-4F4232A5AC78}"/>
                  </a:ext>
                </a:extLst>
              </p14:cNvPr>
              <p14:cNvContentPartPr/>
              <p14:nvPr/>
            </p14:nvContentPartPr>
            <p14:xfrm>
              <a:off x="8905785" y="3638370"/>
              <a:ext cx="303840" cy="360"/>
            </p14:xfrm>
          </p:contentPart>
        </mc:Choice>
        <mc:Fallback xmlns="">
          <p:pic>
            <p:nvPicPr>
              <p:cNvPr id="24" name="筆跡 23">
                <a:extLst>
                  <a:ext uri="{FF2B5EF4-FFF2-40B4-BE49-F238E27FC236}">
                    <a16:creationId xmlns:a16="http://schemas.microsoft.com/office/drawing/2014/main" id="{32D8B7D4-4DA1-74B4-020E-4F4232A5AC7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887785" y="3602370"/>
                <a:ext cx="3394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筆跡 24">
                <a:extLst>
                  <a:ext uri="{FF2B5EF4-FFF2-40B4-BE49-F238E27FC236}">
                    <a16:creationId xmlns:a16="http://schemas.microsoft.com/office/drawing/2014/main" id="{149D29F5-1088-2C98-6511-A4081B99C4FE}"/>
                  </a:ext>
                </a:extLst>
              </p14:cNvPr>
              <p14:cNvContentPartPr/>
              <p14:nvPr/>
            </p14:nvContentPartPr>
            <p14:xfrm>
              <a:off x="8876985" y="3542970"/>
              <a:ext cx="360" cy="360"/>
            </p14:xfrm>
          </p:contentPart>
        </mc:Choice>
        <mc:Fallback xmlns="">
          <p:pic>
            <p:nvPicPr>
              <p:cNvPr id="25" name="筆跡 24">
                <a:extLst>
                  <a:ext uri="{FF2B5EF4-FFF2-40B4-BE49-F238E27FC236}">
                    <a16:creationId xmlns:a16="http://schemas.microsoft.com/office/drawing/2014/main" id="{149D29F5-1088-2C98-6511-A4081B99C4F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58985" y="3506970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筆跡 25">
                <a:extLst>
                  <a:ext uri="{FF2B5EF4-FFF2-40B4-BE49-F238E27FC236}">
                    <a16:creationId xmlns:a16="http://schemas.microsoft.com/office/drawing/2014/main" id="{91725259-CFA2-EB90-CF14-E71244CAA893}"/>
                  </a:ext>
                </a:extLst>
              </p14:cNvPr>
              <p14:cNvContentPartPr/>
              <p14:nvPr/>
            </p14:nvContentPartPr>
            <p14:xfrm>
              <a:off x="8876985" y="3609930"/>
              <a:ext cx="430200" cy="20880"/>
            </p14:xfrm>
          </p:contentPart>
        </mc:Choice>
        <mc:Fallback xmlns="">
          <p:pic>
            <p:nvPicPr>
              <p:cNvPr id="26" name="筆跡 25">
                <a:extLst>
                  <a:ext uri="{FF2B5EF4-FFF2-40B4-BE49-F238E27FC236}">
                    <a16:creationId xmlns:a16="http://schemas.microsoft.com/office/drawing/2014/main" id="{91725259-CFA2-EB90-CF14-E71244CAA89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858985" y="3574290"/>
                <a:ext cx="465840" cy="9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8" name="筆跡 27">
                <a:extLst>
                  <a:ext uri="{FF2B5EF4-FFF2-40B4-BE49-F238E27FC236}">
                    <a16:creationId xmlns:a16="http://schemas.microsoft.com/office/drawing/2014/main" id="{7FB2EA42-402D-147D-9042-F2C4A7F42198}"/>
                  </a:ext>
                </a:extLst>
              </p14:cNvPr>
              <p14:cNvContentPartPr/>
              <p14:nvPr/>
            </p14:nvContentPartPr>
            <p14:xfrm>
              <a:off x="9829545" y="3599850"/>
              <a:ext cx="347760" cy="30600"/>
            </p14:xfrm>
          </p:contentPart>
        </mc:Choice>
        <mc:Fallback xmlns="">
          <p:pic>
            <p:nvPicPr>
              <p:cNvPr id="28" name="筆跡 27">
                <a:extLst>
                  <a:ext uri="{FF2B5EF4-FFF2-40B4-BE49-F238E27FC236}">
                    <a16:creationId xmlns:a16="http://schemas.microsoft.com/office/drawing/2014/main" id="{7FB2EA42-402D-147D-9042-F2C4A7F4219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11905" y="3564210"/>
                <a:ext cx="38340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9" name="筆跡 28">
                <a:extLst>
                  <a:ext uri="{FF2B5EF4-FFF2-40B4-BE49-F238E27FC236}">
                    <a16:creationId xmlns:a16="http://schemas.microsoft.com/office/drawing/2014/main" id="{9F8C8B03-D764-2C0A-66D3-E79D4AC0BABB}"/>
                  </a:ext>
                </a:extLst>
              </p14:cNvPr>
              <p14:cNvContentPartPr/>
              <p14:nvPr/>
            </p14:nvContentPartPr>
            <p14:xfrm>
              <a:off x="9848625" y="3780930"/>
              <a:ext cx="347760" cy="16560"/>
            </p14:xfrm>
          </p:contentPart>
        </mc:Choice>
        <mc:Fallback xmlns="">
          <p:pic>
            <p:nvPicPr>
              <p:cNvPr id="29" name="筆跡 28">
                <a:extLst>
                  <a:ext uri="{FF2B5EF4-FFF2-40B4-BE49-F238E27FC236}">
                    <a16:creationId xmlns:a16="http://schemas.microsoft.com/office/drawing/2014/main" id="{9F8C8B03-D764-2C0A-66D3-E79D4AC0BAB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830625" y="3745290"/>
                <a:ext cx="38340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筆跡 30">
                <a:extLst>
                  <a:ext uri="{FF2B5EF4-FFF2-40B4-BE49-F238E27FC236}">
                    <a16:creationId xmlns:a16="http://schemas.microsoft.com/office/drawing/2014/main" id="{2BA986C5-5474-07E0-ED82-28187E83E0E3}"/>
                  </a:ext>
                </a:extLst>
              </p14:cNvPr>
              <p14:cNvContentPartPr/>
              <p14:nvPr/>
            </p14:nvContentPartPr>
            <p14:xfrm>
              <a:off x="9848265" y="3942930"/>
              <a:ext cx="324720" cy="28800"/>
            </p14:xfrm>
          </p:contentPart>
        </mc:Choice>
        <mc:Fallback xmlns="">
          <p:pic>
            <p:nvPicPr>
              <p:cNvPr id="31" name="筆跡 30">
                <a:extLst>
                  <a:ext uri="{FF2B5EF4-FFF2-40B4-BE49-F238E27FC236}">
                    <a16:creationId xmlns:a16="http://schemas.microsoft.com/office/drawing/2014/main" id="{2BA986C5-5474-07E0-ED82-28187E83E0E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830625" y="3907290"/>
                <a:ext cx="360360" cy="100440"/>
              </a:xfrm>
              <a:prstGeom prst="rect">
                <a:avLst/>
              </a:prstGeom>
            </p:spPr>
          </p:pic>
        </mc:Fallback>
      </mc:AlternateContent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5F9C86FC-8571-F557-784D-30BE74EA35D0}"/>
              </a:ext>
            </a:extLst>
          </p:cNvPr>
          <p:cNvCxnSpPr>
            <a:cxnSpLocks/>
          </p:cNvCxnSpPr>
          <p:nvPr/>
        </p:nvCxnSpPr>
        <p:spPr>
          <a:xfrm flipV="1">
            <a:off x="10172985" y="3152775"/>
            <a:ext cx="819030" cy="4470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2A923CF5-3B49-6126-31AD-E2B04D5796E6}"/>
              </a:ext>
            </a:extLst>
          </p:cNvPr>
          <p:cNvCxnSpPr>
            <a:cxnSpLocks/>
          </p:cNvCxnSpPr>
          <p:nvPr/>
        </p:nvCxnSpPr>
        <p:spPr>
          <a:xfrm>
            <a:off x="10170585" y="3751890"/>
            <a:ext cx="85053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4B6C25D3-D208-8FBD-034D-F3B936577861}"/>
              </a:ext>
            </a:extLst>
          </p:cNvPr>
          <p:cNvCxnSpPr>
            <a:cxnSpLocks/>
          </p:cNvCxnSpPr>
          <p:nvPr/>
        </p:nvCxnSpPr>
        <p:spPr>
          <a:xfrm>
            <a:off x="10170585" y="3971730"/>
            <a:ext cx="850530" cy="4669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3559FC41-0AF9-3F54-767F-AA38DBB0D83E}"/>
              </a:ext>
            </a:extLst>
          </p:cNvPr>
          <p:cNvSpPr txBox="1"/>
          <p:nvPr/>
        </p:nvSpPr>
        <p:spPr>
          <a:xfrm>
            <a:off x="10953721" y="2907543"/>
            <a:ext cx="13055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F1 Score</a:t>
            </a: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7C21A7B-9894-F380-C23F-71C3BADA6FB0}"/>
              </a:ext>
            </a:extLst>
          </p:cNvPr>
          <p:cNvSpPr txBox="1"/>
          <p:nvPr/>
        </p:nvSpPr>
        <p:spPr>
          <a:xfrm>
            <a:off x="10992016" y="3533250"/>
            <a:ext cx="916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AUC</a:t>
            </a: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B416A5F5-6791-F928-1373-6F11D7779370}"/>
              </a:ext>
            </a:extLst>
          </p:cNvPr>
          <p:cNvSpPr txBox="1"/>
          <p:nvPr/>
        </p:nvSpPr>
        <p:spPr>
          <a:xfrm>
            <a:off x="11021115" y="4196824"/>
            <a:ext cx="916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RMSE</a:t>
            </a:r>
            <a:endParaRPr lang="zh-TW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466492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9C6B-4C57-64E0-20F0-60D8C8D1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E6C5784F-453B-A6DC-9213-1706E826A756}"/>
              </a:ext>
            </a:extLst>
          </p:cNvPr>
          <p:cNvSpPr txBox="1">
            <a:spLocks/>
          </p:cNvSpPr>
          <p:nvPr/>
        </p:nvSpPr>
        <p:spPr>
          <a:xfrm>
            <a:off x="2706885" y="2253853"/>
            <a:ext cx="6778229" cy="23502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MLP+</a:t>
            </a:r>
            <a:r>
              <a:rPr lang="zh-TW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特徵工程</a:t>
            </a:r>
            <a:endParaRPr lang="en-US" altLang="zh-TW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zh-TW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復現 </a:t>
            </a:r>
          </a:p>
        </p:txBody>
      </p:sp>
    </p:spTree>
    <p:extLst>
      <p:ext uri="{BB962C8B-B14F-4D97-AF65-F5344CB8AC3E}">
        <p14:creationId xmlns:p14="http://schemas.microsoft.com/office/powerpoint/2010/main" val="932818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2DE6B-AA55-1E3C-D93E-118EAE877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30CD28DA-3638-6D6B-D300-36D02224F469}"/>
              </a:ext>
            </a:extLst>
          </p:cNvPr>
          <p:cNvSpPr txBox="1">
            <a:spLocks/>
          </p:cNvSpPr>
          <p:nvPr/>
        </p:nvSpPr>
        <p:spPr>
          <a:xfrm>
            <a:off x="4201945" y="-35652"/>
            <a:ext cx="3788110" cy="776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TW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不同作法數據比較</a:t>
            </a:r>
            <a:endParaRPr lang="en-US" altLang="zh-TW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C4ECE29-F81B-DEF3-C450-259046FC1665}"/>
              </a:ext>
            </a:extLst>
          </p:cNvPr>
          <p:cNvSpPr txBox="1">
            <a:spLocks/>
          </p:cNvSpPr>
          <p:nvPr/>
        </p:nvSpPr>
        <p:spPr>
          <a:xfrm>
            <a:off x="776889" y="700147"/>
            <a:ext cx="4294570" cy="85713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做法比較表 </a:t>
            </a:r>
            <a:r>
              <a:rPr lang="en-US" altLang="zh-TW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B02DE191-4C8C-09D1-725A-A0D590E140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686846"/>
              </p:ext>
            </p:extLst>
          </p:nvPr>
        </p:nvGraphicFramePr>
        <p:xfrm>
          <a:off x="910238" y="1557277"/>
          <a:ext cx="10738840" cy="497019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61612">
                  <a:extLst>
                    <a:ext uri="{9D8B030D-6E8A-4147-A177-3AD203B41FA5}">
                      <a16:colId xmlns:a16="http://schemas.microsoft.com/office/drawing/2014/main" val="1444973239"/>
                    </a:ext>
                  </a:extLst>
                </a:gridCol>
                <a:gridCol w="1833924">
                  <a:extLst>
                    <a:ext uri="{9D8B030D-6E8A-4147-A177-3AD203B41FA5}">
                      <a16:colId xmlns:a16="http://schemas.microsoft.com/office/drawing/2014/main" val="119300449"/>
                    </a:ext>
                  </a:extLst>
                </a:gridCol>
                <a:gridCol w="2147768">
                  <a:extLst>
                    <a:ext uri="{9D8B030D-6E8A-4147-A177-3AD203B41FA5}">
                      <a16:colId xmlns:a16="http://schemas.microsoft.com/office/drawing/2014/main" val="3377769929"/>
                    </a:ext>
                  </a:extLst>
                </a:gridCol>
                <a:gridCol w="2147768">
                  <a:extLst>
                    <a:ext uri="{9D8B030D-6E8A-4147-A177-3AD203B41FA5}">
                      <a16:colId xmlns:a16="http://schemas.microsoft.com/office/drawing/2014/main" val="1797963877"/>
                    </a:ext>
                  </a:extLst>
                </a:gridCol>
                <a:gridCol w="2147768">
                  <a:extLst>
                    <a:ext uri="{9D8B030D-6E8A-4147-A177-3AD203B41FA5}">
                      <a16:colId xmlns:a16="http://schemas.microsoft.com/office/drawing/2014/main" val="2615229540"/>
                    </a:ext>
                  </a:extLst>
                </a:gridCol>
              </a:tblGrid>
              <a:tr h="702999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Classic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Accuracy (%)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Precision (%)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Recall (%)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F1 Score (%)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7363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/>
                        <a:t>XGBoost</a:t>
                      </a:r>
                      <a:endParaRPr lang="en-US" altLang="zh-TW" sz="2400" dirty="0"/>
                    </a:p>
                    <a:p>
                      <a:pPr algn="l"/>
                      <a:r>
                        <a:rPr lang="en-US" altLang="zh-TW" sz="2000" dirty="0"/>
                        <a:t>(</a:t>
                      </a:r>
                      <a:r>
                        <a:rPr lang="zh-TW" altLang="en-US" sz="2000" dirty="0"/>
                        <a:t>例行賽</a:t>
                      </a:r>
                      <a:r>
                        <a:rPr lang="en-US" altLang="zh-TW" sz="2000" dirty="0"/>
                        <a:t>+</a:t>
                      </a:r>
                      <a:r>
                        <a:rPr lang="zh-TW" altLang="en-US" sz="2000" dirty="0"/>
                        <a:t>最佳參數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85.77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85.97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85.5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85.73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7031601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MLP</a:t>
                      </a:r>
                    </a:p>
                    <a:p>
                      <a:pPr algn="l"/>
                      <a:r>
                        <a:rPr lang="en-US" altLang="zh-TW" sz="2000" dirty="0"/>
                        <a:t>(</a:t>
                      </a:r>
                      <a:r>
                        <a:rPr lang="zh-TW" altLang="en-US" sz="2000" dirty="0"/>
                        <a:t>例行賽</a:t>
                      </a:r>
                      <a:r>
                        <a:rPr lang="en-US" altLang="zh-TW" sz="2000" dirty="0"/>
                        <a:t>+</a:t>
                      </a:r>
                      <a:r>
                        <a:rPr lang="zh-TW" altLang="en-US" sz="2000" dirty="0"/>
                        <a:t>特徵工程</a:t>
                      </a:r>
                      <a:r>
                        <a:rPr lang="en-US" altLang="zh-TW" sz="2000" dirty="0"/>
                        <a:t>)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96.39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95.94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95.94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95.94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8704779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 err="1"/>
                        <a:t>XGBoost</a:t>
                      </a:r>
                      <a:endParaRPr lang="en-US" altLang="zh-TW" sz="2400" dirty="0"/>
                    </a:p>
                    <a:p>
                      <a:pPr algn="l"/>
                      <a:r>
                        <a:rPr lang="en-US" altLang="zh-TW" sz="2000" dirty="0"/>
                        <a:t>(</a:t>
                      </a:r>
                      <a:r>
                        <a:rPr lang="zh-TW" altLang="en-US" sz="2000" dirty="0"/>
                        <a:t>例行賽</a:t>
                      </a:r>
                      <a:r>
                        <a:rPr lang="en-US" altLang="zh-TW" sz="2000" dirty="0"/>
                        <a:t>+</a:t>
                      </a:r>
                      <a:r>
                        <a:rPr lang="zh-TW" altLang="en-US" sz="2000" dirty="0"/>
                        <a:t>最佳參數</a:t>
                      </a:r>
                      <a:r>
                        <a:rPr lang="en-US" altLang="zh-TW" sz="2000" dirty="0"/>
                        <a:t>+</a:t>
                      </a:r>
                    </a:p>
                    <a:p>
                      <a:pPr algn="l"/>
                      <a:r>
                        <a:rPr lang="en-US" altLang="zh-TW" sz="2000" dirty="0"/>
                        <a:t>5-fold)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83.69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83.9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83.44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83.66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016572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MLP</a:t>
                      </a:r>
                    </a:p>
                    <a:p>
                      <a:pPr algn="l"/>
                      <a:r>
                        <a:rPr lang="en-US" altLang="zh-TW" sz="2000" dirty="0"/>
                        <a:t>(</a:t>
                      </a:r>
                      <a:r>
                        <a:rPr lang="zh-TW" altLang="en-US" sz="2000" dirty="0"/>
                        <a:t>例行賽</a:t>
                      </a:r>
                      <a:r>
                        <a:rPr lang="en-US" altLang="zh-TW" sz="2000" dirty="0"/>
                        <a:t>+</a:t>
                      </a:r>
                      <a:r>
                        <a:rPr lang="zh-TW" altLang="en-US" sz="2000" dirty="0"/>
                        <a:t>特徵工程</a:t>
                      </a:r>
                      <a:r>
                        <a:rPr lang="en-US" altLang="zh-TW" sz="2000" dirty="0"/>
                        <a:t>+</a:t>
                      </a:r>
                    </a:p>
                    <a:p>
                      <a:pPr algn="l"/>
                      <a:r>
                        <a:rPr lang="en-US" altLang="zh-TW" sz="2000" dirty="0"/>
                        <a:t>5-fold)</a:t>
                      </a:r>
                      <a:endParaRPr lang="zh-TW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85.2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83.33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83.82</a:t>
                      </a:r>
                      <a:endParaRPr lang="zh-TW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400" dirty="0"/>
                        <a:t>83.43</a:t>
                      </a:r>
                      <a:endParaRPr lang="zh-TW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575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605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08841-6CD0-F582-26C9-F13CE619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7F0F790C-8290-D06A-84E5-1591D667C74A}"/>
              </a:ext>
            </a:extLst>
          </p:cNvPr>
          <p:cNvSpPr txBox="1">
            <a:spLocks/>
          </p:cNvSpPr>
          <p:nvPr/>
        </p:nvSpPr>
        <p:spPr>
          <a:xfrm>
            <a:off x="3178968" y="1815703"/>
            <a:ext cx="5834063" cy="32265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TW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MLP</a:t>
            </a:r>
            <a:r>
              <a:rPr lang="zh-TW" alt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圖表</a:t>
            </a:r>
            <a:endParaRPr lang="en-US" altLang="zh-TW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TW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zh-TW" altLang="en-US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特徵工程</a:t>
            </a:r>
            <a:r>
              <a:rPr lang="en-US" altLang="zh-TW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0433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16245-404F-1F09-869C-C727F0C31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01CCBF9-D227-5FEC-8A8D-C42F7BFBA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5" y="1000066"/>
            <a:ext cx="8443999" cy="5629334"/>
          </a:xfrm>
          <a:prstGeom prst="rect">
            <a:avLst/>
          </a:prstGeom>
        </p:spPr>
      </p:pic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40A81A55-04F8-4676-7588-D2363192F791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6955592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混淆矩陣圖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(Confusion Matrix):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文字版面配置區 2">
            <a:extLst>
              <a:ext uri="{FF2B5EF4-FFF2-40B4-BE49-F238E27FC236}">
                <a16:creationId xmlns:a16="http://schemas.microsoft.com/office/drawing/2014/main" id="{E39F9A36-065C-AE4B-BBF6-7F15AF0FA544}"/>
              </a:ext>
            </a:extLst>
          </p:cNvPr>
          <p:cNvSpPr txBox="1">
            <a:spLocks/>
          </p:cNvSpPr>
          <p:nvPr/>
        </p:nvSpPr>
        <p:spPr>
          <a:xfrm>
            <a:off x="3169049" y="2679640"/>
            <a:ext cx="631425" cy="629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rgbClr val="FF0000"/>
                </a:solidFill>
              </a:rPr>
              <a:t>TN</a:t>
            </a:r>
          </a:p>
        </p:txBody>
      </p:sp>
      <p:sp>
        <p:nvSpPr>
          <p:cNvPr id="4" name="文字版面配置區 2">
            <a:extLst>
              <a:ext uri="{FF2B5EF4-FFF2-40B4-BE49-F238E27FC236}">
                <a16:creationId xmlns:a16="http://schemas.microsoft.com/office/drawing/2014/main" id="{9D8E3A3A-E2A0-68B7-3C68-8FAA85F026FA}"/>
              </a:ext>
            </a:extLst>
          </p:cNvPr>
          <p:cNvSpPr txBox="1">
            <a:spLocks/>
          </p:cNvSpPr>
          <p:nvPr/>
        </p:nvSpPr>
        <p:spPr>
          <a:xfrm>
            <a:off x="6181725" y="4971241"/>
            <a:ext cx="631425" cy="629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rgbClr val="FF0000"/>
                </a:solidFill>
              </a:rPr>
              <a:t>TP</a:t>
            </a: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4BE2E564-1CCE-C4BF-60FD-8A350F11B9B8}"/>
              </a:ext>
            </a:extLst>
          </p:cNvPr>
          <p:cNvSpPr txBox="1">
            <a:spLocks/>
          </p:cNvSpPr>
          <p:nvPr/>
        </p:nvSpPr>
        <p:spPr>
          <a:xfrm>
            <a:off x="3169048" y="4971240"/>
            <a:ext cx="631425" cy="629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rgbClr val="FF0000"/>
                </a:solidFill>
              </a:rPr>
              <a:t>FN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A6230205-8FA7-13D2-5526-9D0A94FF5765}"/>
              </a:ext>
            </a:extLst>
          </p:cNvPr>
          <p:cNvSpPr txBox="1">
            <a:spLocks/>
          </p:cNvSpPr>
          <p:nvPr/>
        </p:nvSpPr>
        <p:spPr>
          <a:xfrm>
            <a:off x="6181725" y="2679640"/>
            <a:ext cx="631425" cy="629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800" dirty="0">
                <a:solidFill>
                  <a:srgbClr val="FF0000"/>
                </a:solidFill>
              </a:rPr>
              <a:t>FP</a:t>
            </a:r>
          </a:p>
        </p:txBody>
      </p:sp>
    </p:spTree>
    <p:extLst>
      <p:ext uri="{BB962C8B-B14F-4D97-AF65-F5344CB8AC3E}">
        <p14:creationId xmlns:p14="http://schemas.microsoft.com/office/powerpoint/2010/main" val="3740383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7BD63-2769-884D-8A2B-DF2CECB8A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933CF331-D6B3-4812-964B-11A38B41B423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9834484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五折交叉驗證圖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(5-Fold Cross-Validation):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F6F2E75-08F4-78AF-1C11-7A55BBBCB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5" y="885974"/>
            <a:ext cx="8622470" cy="574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095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A79BC-C7B5-1835-F7DF-01EE9D952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>
            <a:extLst>
              <a:ext uri="{FF2B5EF4-FFF2-40B4-BE49-F238E27FC236}">
                <a16:creationId xmlns:a16="http://schemas.microsoft.com/office/drawing/2014/main" id="{7A7DD37D-F443-C4AA-810C-E1C23D621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613" y="930075"/>
            <a:ext cx="8356262" cy="5711875"/>
          </a:xfrm>
          <a:prstGeom prst="rect">
            <a:avLst/>
          </a:prstGeom>
        </p:spPr>
      </p:pic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BFBC7EB-F6AA-E60A-B669-2C5A0CAFEBEB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8841542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全域特徵重要度圖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(Bar plot):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3F4DFD-C621-8CD8-DB33-089F1498687A}"/>
              </a:ext>
            </a:extLst>
          </p:cNvPr>
          <p:cNvSpPr/>
          <p:nvPr/>
        </p:nvSpPr>
        <p:spPr>
          <a:xfrm>
            <a:off x="1447801" y="1266825"/>
            <a:ext cx="7810499" cy="466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902A5657-0434-C902-33A3-68D3E664D3FF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9258300" y="1500187"/>
            <a:ext cx="762000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89597D31-AECB-833B-7D11-381EC3EA8368}"/>
              </a:ext>
            </a:extLst>
          </p:cNvPr>
          <p:cNvSpPr txBox="1">
            <a:spLocks/>
          </p:cNvSpPr>
          <p:nvPr/>
        </p:nvSpPr>
        <p:spPr>
          <a:xfrm>
            <a:off x="10020300" y="1000280"/>
            <a:ext cx="1676400" cy="999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/>
              <a:t>主隊有效命中率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3595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A7E69-B52F-4B4D-5112-958438DB4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53BB50B8-9DE5-66AC-0F59-1A1F89C9B7AA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10784642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SHAP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特徵影響點狀圖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(SHAP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 Dot Plot):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94659D8-AA13-6281-AF01-C4B5D321C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758" y="914370"/>
            <a:ext cx="7756863" cy="554845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C9A32BE-09C8-E11E-97A4-395609DB8524}"/>
              </a:ext>
            </a:extLst>
          </p:cNvPr>
          <p:cNvSpPr/>
          <p:nvPr/>
        </p:nvSpPr>
        <p:spPr>
          <a:xfrm>
            <a:off x="1543050" y="1771650"/>
            <a:ext cx="6600825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4ADC6D4F-1420-A050-1874-5D15974D3F3D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8143875" y="1962150"/>
            <a:ext cx="1581150" cy="95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版面配置區 2">
            <a:extLst>
              <a:ext uri="{FF2B5EF4-FFF2-40B4-BE49-F238E27FC236}">
                <a16:creationId xmlns:a16="http://schemas.microsoft.com/office/drawing/2014/main" id="{F6437A79-0DB4-EA79-EAEB-1E2DD0928894}"/>
              </a:ext>
            </a:extLst>
          </p:cNvPr>
          <p:cNvSpPr txBox="1">
            <a:spLocks/>
          </p:cNvSpPr>
          <p:nvPr/>
        </p:nvSpPr>
        <p:spPr>
          <a:xfrm>
            <a:off x="9746417" y="1643373"/>
            <a:ext cx="1314449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/>
              <a:t>罰球率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72E6CD4-4178-6AC4-DD27-76FA69F3A01D}"/>
              </a:ext>
            </a:extLst>
          </p:cNvPr>
          <p:cNvSpPr/>
          <p:nvPr/>
        </p:nvSpPr>
        <p:spPr>
          <a:xfrm>
            <a:off x="1543050" y="2162175"/>
            <a:ext cx="6600825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C6CC159C-5C2E-B8EF-D001-E61EE49A9EDB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8143875" y="2352675"/>
            <a:ext cx="1476375" cy="1047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版面配置區 2">
            <a:extLst>
              <a:ext uri="{FF2B5EF4-FFF2-40B4-BE49-F238E27FC236}">
                <a16:creationId xmlns:a16="http://schemas.microsoft.com/office/drawing/2014/main" id="{770304A8-CA54-7757-FA0D-0B1180025125}"/>
              </a:ext>
            </a:extLst>
          </p:cNvPr>
          <p:cNvSpPr txBox="1">
            <a:spLocks/>
          </p:cNvSpPr>
          <p:nvPr/>
        </p:nvSpPr>
        <p:spPr>
          <a:xfrm>
            <a:off x="9746416" y="2162175"/>
            <a:ext cx="2016959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/>
              <a:t>主隊失誤率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F82493-3B1D-566E-5CBE-89D6ED763A93}"/>
              </a:ext>
            </a:extLst>
          </p:cNvPr>
          <p:cNvSpPr/>
          <p:nvPr/>
        </p:nvSpPr>
        <p:spPr>
          <a:xfrm>
            <a:off x="1543050" y="3081085"/>
            <a:ext cx="6600825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F92A6625-9BA8-90CD-CAC7-7AF50320B19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8143875" y="3271585"/>
            <a:ext cx="1476375" cy="1047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版面配置區 2">
            <a:extLst>
              <a:ext uri="{FF2B5EF4-FFF2-40B4-BE49-F238E27FC236}">
                <a16:creationId xmlns:a16="http://schemas.microsoft.com/office/drawing/2014/main" id="{E35AD7DE-51C5-D500-F341-B88AEB262530}"/>
              </a:ext>
            </a:extLst>
          </p:cNvPr>
          <p:cNvSpPr txBox="1">
            <a:spLocks/>
          </p:cNvSpPr>
          <p:nvPr/>
        </p:nvSpPr>
        <p:spPr>
          <a:xfrm>
            <a:off x="9746416" y="3081085"/>
            <a:ext cx="2016959" cy="656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b="1" dirty="0"/>
              <a:t>客隊失誤率</a:t>
            </a:r>
            <a:endParaRPr lang="zh-TW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572405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7144-8957-D22D-F510-1D934103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1AA4E90D-4D44-F55C-61D2-A60A2521E8A4}"/>
              </a:ext>
            </a:extLst>
          </p:cNvPr>
          <p:cNvSpPr txBox="1">
            <a:spLocks/>
          </p:cNvSpPr>
          <p:nvPr/>
        </p:nvSpPr>
        <p:spPr>
          <a:xfrm>
            <a:off x="988259" y="228541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Github</a:t>
            </a:r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連結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文字版面配置區 2">
            <a:extLst>
              <a:ext uri="{FF2B5EF4-FFF2-40B4-BE49-F238E27FC236}">
                <a16:creationId xmlns:a16="http://schemas.microsoft.com/office/drawing/2014/main" id="{2F4F1703-BF7C-4699-FEDD-81E0C127C0DD}"/>
              </a:ext>
            </a:extLst>
          </p:cNvPr>
          <p:cNvSpPr txBox="1">
            <a:spLocks/>
          </p:cNvSpPr>
          <p:nvPr/>
        </p:nvSpPr>
        <p:spPr>
          <a:xfrm>
            <a:off x="988259" y="1571567"/>
            <a:ext cx="11089442" cy="67633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3200" dirty="0"/>
              <a:t>https://github.com/Bokai0620/NBA_AI_Predict_Project/tree/main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F187406-B705-575D-164B-0734457C7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259" y="2914708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154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9856E-7914-A17C-AEE6-F9DB2DB2A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版面配置區 2">
            <a:extLst>
              <a:ext uri="{FF2B5EF4-FFF2-40B4-BE49-F238E27FC236}">
                <a16:creationId xmlns:a16="http://schemas.microsoft.com/office/drawing/2014/main" id="{C9BD71F4-023F-F9F5-36BA-3BF99BAB3EB3}"/>
              </a:ext>
            </a:extLst>
          </p:cNvPr>
          <p:cNvSpPr txBox="1">
            <a:spLocks/>
          </p:cNvSpPr>
          <p:nvPr/>
        </p:nvSpPr>
        <p:spPr>
          <a:xfrm>
            <a:off x="1178758" y="-171509"/>
            <a:ext cx="4267200" cy="11715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下週預計進度</a:t>
            </a:r>
            <a:r>
              <a:rPr lang="en-US" altLang="zh-TW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zh-TW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821BAD-4CC1-9988-4672-F7795ED74137}"/>
              </a:ext>
            </a:extLst>
          </p:cNvPr>
          <p:cNvSpPr txBox="1">
            <a:spLocks/>
          </p:cNvSpPr>
          <p:nvPr/>
        </p:nvSpPr>
        <p:spPr>
          <a:xfrm>
            <a:off x="1351787" y="1161992"/>
            <a:ext cx="8188342" cy="41918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dirty="0"/>
              <a:t>找提高準確率的新特徵、新模型等等做法。</a:t>
            </a:r>
            <a:endParaRPr lang="en-US" altLang="zh-TW" sz="2800" dirty="0"/>
          </a:p>
        </p:txBody>
      </p:sp>
    </p:spTree>
    <p:extLst>
      <p:ext uri="{BB962C8B-B14F-4D97-AF65-F5344CB8AC3E}">
        <p14:creationId xmlns:p14="http://schemas.microsoft.com/office/powerpoint/2010/main" val="23750537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電路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TM04033919[[fn=電路]]</Template>
  <TotalTime>9937</TotalTime>
  <Words>1114</Words>
  <Application>Microsoft Office PowerPoint</Application>
  <PresentationFormat>寬螢幕</PresentationFormat>
  <Paragraphs>181</Paragraphs>
  <Slides>24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Arial</vt:lpstr>
      <vt:lpstr>Calibri</vt:lpstr>
      <vt:lpstr>Tw Cen MT</vt:lpstr>
      <vt:lpstr>Wingdings</vt:lpstr>
      <vt:lpstr>電路</vt:lpstr>
      <vt:lpstr>NBA賽事AI預測-論文閱讀</vt:lpstr>
      <vt:lpstr>PowerPoint 簡報</vt:lpstr>
      <vt:lpstr>參考文獻:</vt:lpstr>
      <vt:lpstr>PowerPoint 簡報</vt:lpstr>
      <vt:lpstr>PowerPoint 簡報</vt:lpstr>
      <vt:lpstr>PowerPoint 簡報</vt:lpstr>
      <vt:lpstr>PowerPoint 簡報</vt:lpstr>
      <vt:lpstr>PowerPoint 簡報</vt:lpstr>
      <vt:lpstr>最佳特徵組合  特徵工程 (特徵數:10)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AI賽事預測-作法</dc:title>
  <dc:creator>博凱 徐</dc:creator>
  <cp:lastModifiedBy>博凱 徐</cp:lastModifiedBy>
  <cp:revision>44</cp:revision>
  <dcterms:created xsi:type="dcterms:W3CDTF">2025-07-02T01:22:36Z</dcterms:created>
  <dcterms:modified xsi:type="dcterms:W3CDTF">2025-12-02T14:30:45Z</dcterms:modified>
</cp:coreProperties>
</file>