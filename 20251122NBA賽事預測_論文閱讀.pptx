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7" r:id="rId2"/>
    <p:sldId id="359" r:id="rId3"/>
    <p:sldId id="329" r:id="rId4"/>
    <p:sldId id="353" r:id="rId5"/>
    <p:sldId id="301" r:id="rId6"/>
    <p:sldId id="349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54" r:id="rId18"/>
    <p:sldId id="371" r:id="rId19"/>
    <p:sldId id="372" r:id="rId20"/>
    <p:sldId id="373" r:id="rId21"/>
    <p:sldId id="36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4:34:43.49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0,'1351'-26'0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4:34:45.1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0,'451'0,"-431"1,0 1,35 9,-33-7,-1 0,26 1,406-4,-217-2,-222 0,1-1,0 0,20-6,20-3,-35 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4:34:46.75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84,'85'1,"96"-3,-110-10,-51 7,0 1,28-1,-47 5,49-1,84-13,-106 10,48 0,-53 4,0-2,-1 0,34-7,-14 1,0 2,1 1,-1 3,74 5,-20-1,89-2,-163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DFB32-D697-4E79-BCEA-13BD03C1990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92C6F-8A17-424C-AE18-9528893F4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36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7FD3-2529-CE68-272E-344E69EA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BC502D-3020-BA31-A76A-CC880D4F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F09AE-5C0F-D473-94A5-9B76BF29A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B79EE4-A523-BA42-8361-9F742AB7A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673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C994-76EB-B81A-4F61-4980C72F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50ECA1-6567-C083-FBAF-1B6AB2A4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6221F3-0DCA-83B6-1470-4ACAB27DB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BD971C-86EB-BA1F-59DF-6C304CE0E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437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4428-3AB5-0F3B-191B-305D1854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18D222-8383-487E-5CD9-28988A9E6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A271FA-F5E6-780E-7CB2-4EDFD4A65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69E3C5-14E4-78A7-2E04-C89322053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093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5CF17-B66B-C784-14FF-B3F95861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7316A69-DF40-C13B-9E36-93060F7CF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F49030-F0C3-BA2B-C397-29F7435B6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完全打擊</a:t>
            </a:r>
            <a:r>
              <a:rPr lang="en-US" altLang="zh-TW" dirty="0"/>
              <a:t>:1</a:t>
            </a:r>
            <a:r>
              <a:rPr lang="zh-TW" altLang="en-US" dirty="0"/>
              <a:t>壘安打</a:t>
            </a:r>
            <a:r>
              <a:rPr lang="en-US" altLang="zh-TW" dirty="0"/>
              <a:t>+2</a:t>
            </a:r>
            <a:r>
              <a:rPr lang="zh-TW" altLang="en-US" dirty="0"/>
              <a:t>壘安打</a:t>
            </a:r>
            <a:r>
              <a:rPr lang="en-US" altLang="zh-TW" dirty="0"/>
              <a:t>+3</a:t>
            </a:r>
            <a:r>
              <a:rPr lang="zh-TW" altLang="en-US" dirty="0"/>
              <a:t>壘安打</a:t>
            </a:r>
            <a:r>
              <a:rPr lang="en-US" altLang="zh-TW" dirty="0"/>
              <a:t>+</a:t>
            </a:r>
            <a:r>
              <a:rPr lang="zh-TW" altLang="en-US" dirty="0"/>
              <a:t>全壘打</a:t>
            </a:r>
            <a:endParaRPr lang="en-US" altLang="zh-TW" dirty="0"/>
          </a:p>
          <a:p>
            <a:r>
              <a:rPr lang="zh-TW" altLang="en-US" dirty="0"/>
              <a:t>打席數</a:t>
            </a:r>
            <a:r>
              <a:rPr lang="en-US" altLang="zh-TW" dirty="0"/>
              <a:t>:</a:t>
            </a:r>
            <a:r>
              <a:rPr lang="zh-TW" altLang="en-US" dirty="0"/>
              <a:t>投手面對的打席數。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6CF137-F983-C39B-A84B-A686A2257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952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489C-83FC-145A-2971-C8D5EF12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9118CC-5C96-2DD4-F3EA-64FA2981A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E63F9E-FC19-53C9-263D-4B1A79D90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完全打擊</a:t>
            </a:r>
            <a:r>
              <a:rPr lang="en-US" altLang="zh-TW" dirty="0"/>
              <a:t>:1</a:t>
            </a:r>
            <a:r>
              <a:rPr lang="zh-TW" altLang="en-US" dirty="0"/>
              <a:t>壘安打</a:t>
            </a:r>
            <a:r>
              <a:rPr lang="en-US" altLang="zh-TW" dirty="0"/>
              <a:t>+2</a:t>
            </a:r>
            <a:r>
              <a:rPr lang="zh-TW" altLang="en-US" dirty="0"/>
              <a:t>壘安打</a:t>
            </a:r>
            <a:r>
              <a:rPr lang="en-US" altLang="zh-TW" dirty="0"/>
              <a:t>+3</a:t>
            </a:r>
            <a:r>
              <a:rPr lang="zh-TW" altLang="en-US" dirty="0"/>
              <a:t>壘安打</a:t>
            </a:r>
            <a:r>
              <a:rPr lang="en-US" altLang="zh-TW" dirty="0"/>
              <a:t>+</a:t>
            </a:r>
            <a:r>
              <a:rPr lang="zh-TW" altLang="en-US" dirty="0"/>
              <a:t>全壘打</a:t>
            </a:r>
            <a:endParaRPr lang="en-US" altLang="zh-TW" dirty="0"/>
          </a:p>
          <a:p>
            <a:r>
              <a:rPr lang="zh-TW" altLang="en-US" dirty="0"/>
              <a:t>打席數</a:t>
            </a:r>
            <a:r>
              <a:rPr lang="en-US" altLang="zh-TW" dirty="0"/>
              <a:t>:</a:t>
            </a:r>
            <a:r>
              <a:rPr lang="zh-TW" altLang="en-US" dirty="0"/>
              <a:t>投手面對的打席數。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C5D226-57EF-FDC9-03D8-AE033B46A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782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3FA3-8920-1724-1A82-9BC34620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EE001-6FEC-891F-2AB8-EF3EBFFA8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C0B33E-8F77-628D-9FA0-7654BC3C0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完全打擊</a:t>
            </a:r>
            <a:r>
              <a:rPr lang="en-US" altLang="zh-TW" dirty="0"/>
              <a:t>:1</a:t>
            </a:r>
            <a:r>
              <a:rPr lang="zh-TW" altLang="en-US" dirty="0"/>
              <a:t>壘安打</a:t>
            </a:r>
            <a:r>
              <a:rPr lang="en-US" altLang="zh-TW" dirty="0"/>
              <a:t>+2</a:t>
            </a:r>
            <a:r>
              <a:rPr lang="zh-TW" altLang="en-US" dirty="0"/>
              <a:t>壘安打</a:t>
            </a:r>
            <a:r>
              <a:rPr lang="en-US" altLang="zh-TW" dirty="0"/>
              <a:t>+3</a:t>
            </a:r>
            <a:r>
              <a:rPr lang="zh-TW" altLang="en-US" dirty="0"/>
              <a:t>壘安打</a:t>
            </a:r>
            <a:r>
              <a:rPr lang="en-US" altLang="zh-TW" dirty="0"/>
              <a:t>+</a:t>
            </a:r>
            <a:r>
              <a:rPr lang="zh-TW" altLang="en-US" dirty="0"/>
              <a:t>全壘打</a:t>
            </a:r>
            <a:endParaRPr lang="en-US" altLang="zh-TW" dirty="0"/>
          </a:p>
          <a:p>
            <a:r>
              <a:rPr lang="zh-TW" altLang="en-US" dirty="0"/>
              <a:t>打席數</a:t>
            </a:r>
            <a:r>
              <a:rPr lang="en-US" altLang="zh-TW" dirty="0"/>
              <a:t>:</a:t>
            </a:r>
            <a:r>
              <a:rPr lang="zh-TW" altLang="en-US" dirty="0"/>
              <a:t>投手面對的打席數。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AE5D46-40AE-CB33-4A5B-9BC25D3ED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308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D57D-9929-75B3-FC84-3480BB0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FCCD14F-9C01-F812-988E-2E32F7F44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5A5393-743D-E9E2-B1E1-F0099B942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完全打擊</a:t>
            </a:r>
            <a:r>
              <a:rPr lang="en-US" altLang="zh-TW" dirty="0"/>
              <a:t>:1</a:t>
            </a:r>
            <a:r>
              <a:rPr lang="zh-TW" altLang="en-US" dirty="0"/>
              <a:t>壘安打</a:t>
            </a:r>
            <a:r>
              <a:rPr lang="en-US" altLang="zh-TW" dirty="0"/>
              <a:t>+2</a:t>
            </a:r>
            <a:r>
              <a:rPr lang="zh-TW" altLang="en-US" dirty="0"/>
              <a:t>壘安打</a:t>
            </a:r>
            <a:r>
              <a:rPr lang="en-US" altLang="zh-TW" dirty="0"/>
              <a:t>+3</a:t>
            </a:r>
            <a:r>
              <a:rPr lang="zh-TW" altLang="en-US" dirty="0"/>
              <a:t>壘安打</a:t>
            </a:r>
            <a:r>
              <a:rPr lang="en-US" altLang="zh-TW" dirty="0"/>
              <a:t>+</a:t>
            </a:r>
            <a:r>
              <a:rPr lang="zh-TW" altLang="en-US" dirty="0"/>
              <a:t>全壘打</a:t>
            </a:r>
            <a:endParaRPr lang="en-US" altLang="zh-TW" dirty="0"/>
          </a:p>
          <a:p>
            <a:r>
              <a:rPr lang="zh-TW" altLang="en-US" dirty="0"/>
              <a:t>打席數</a:t>
            </a:r>
            <a:r>
              <a:rPr lang="en-US" altLang="zh-TW" dirty="0"/>
              <a:t>:</a:t>
            </a:r>
            <a:r>
              <a:rPr lang="zh-TW" altLang="en-US" dirty="0"/>
              <a:t>投手面對的打席數。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D010DF-B0C2-F714-D2E8-D9911F5D1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959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7CA2-7E44-7E94-B9B4-0CF029FD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1CC898-C505-E0AA-B22C-C9DAC63DD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8B8DCD-B9FE-0035-87AA-E3F0F6FBC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完全打擊</a:t>
            </a:r>
            <a:r>
              <a:rPr lang="en-US" altLang="zh-TW" dirty="0"/>
              <a:t>:1</a:t>
            </a:r>
            <a:r>
              <a:rPr lang="zh-TW" altLang="en-US" dirty="0"/>
              <a:t>壘安打</a:t>
            </a:r>
            <a:r>
              <a:rPr lang="en-US" altLang="zh-TW" dirty="0"/>
              <a:t>+2</a:t>
            </a:r>
            <a:r>
              <a:rPr lang="zh-TW" altLang="en-US" dirty="0"/>
              <a:t>壘安打</a:t>
            </a:r>
            <a:r>
              <a:rPr lang="en-US" altLang="zh-TW" dirty="0"/>
              <a:t>+3</a:t>
            </a:r>
            <a:r>
              <a:rPr lang="zh-TW" altLang="en-US" dirty="0"/>
              <a:t>壘安打</a:t>
            </a:r>
            <a:r>
              <a:rPr lang="en-US" altLang="zh-TW" dirty="0"/>
              <a:t>+</a:t>
            </a:r>
            <a:r>
              <a:rPr lang="zh-TW" altLang="en-US" dirty="0"/>
              <a:t>全壘打</a:t>
            </a:r>
            <a:endParaRPr lang="en-US" altLang="zh-TW" dirty="0"/>
          </a:p>
          <a:p>
            <a:r>
              <a:rPr lang="zh-TW" altLang="en-US" dirty="0"/>
              <a:t>打席數</a:t>
            </a:r>
            <a:r>
              <a:rPr lang="en-US" altLang="zh-TW" dirty="0"/>
              <a:t>:</a:t>
            </a:r>
            <a:r>
              <a:rPr lang="zh-TW" altLang="en-US" dirty="0"/>
              <a:t>投手面對的打席數。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2BF29D-12A4-5B20-DEE7-0F29E1D8C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561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4DC7-5B27-03C1-8EE7-26E9561B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D3610A-7084-68B7-64D1-D72B4CABD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840FA4-ADD8-258A-5AE1-8A541A044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(2)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MLP-Encoder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把所有特徵都分成一個向量。主隊打擊、主隊投手、客隊打擊、客隊投手。</a:t>
            </a:r>
            <a:endParaRPr lang="en-US" altLang="zh-TW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(3).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MLP-Compete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主隊打擊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客隊投手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客隊打擊 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主隊投手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。建立隊抗關係。</a:t>
            </a:r>
            <a:endParaRPr lang="en-US" altLang="zh-TW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F9436-E770-B0A4-DF8D-6A81DEB88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784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0F02-1FCA-1CB0-CE05-864615A6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206D47-2582-721B-F6AC-7EDEFEA07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394D7B-CB5D-1195-6BC2-91090BFD0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先建立所有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主隊打擊、主隊投手、客隊打擊、客隊投手的向量。接下來組合成對抗關係的向量。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28FC61-82FD-A2F3-591D-1F1F3EF32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91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AE5D-2FDA-E247-A9FE-61DF01FF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66ED42-C4A2-9D0C-AD6F-C335CC041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DEC8F8-EF5C-C94B-D551-006B88EA5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70FF4-6BA7-6EE6-A947-C3151E833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64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BD60-4C09-E7EE-543C-1DF5FBCC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32AF30-DD34-A53D-B875-FF662B40E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6392E4-9CD0-6B0D-408F-B1A639C23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C54791-AC05-76D3-66D1-F1096A828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934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1FC00-9D9C-63F7-9B9C-197FF5B0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904B4DC-0C3B-CF9D-8401-DE961A0C6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F9F43A4-74ED-8E8A-30D8-15E8DA2EE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67329E-B1B8-B30F-52A3-C78A6B3DA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532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104A8-15DC-65F0-12C0-95A5663D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578090-D24D-C957-D7D2-D688F72DC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6D56A43-E17B-8F72-6D2A-158FEF83D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數據、模型等等沒有相同。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4159E9-0B5A-F976-E67D-BC5653D09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454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A299-FBAA-976E-0298-097CCF3B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C10D00-DEB0-E02D-042C-6E3181186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0F776F-23D0-79AE-1FAD-94E8072B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7FC907-18E4-BF47-0577-9867BA162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earworks.missouristate.edu/theses/4029/" TargetMode="External"/><Relationship Id="rId2" Type="http://schemas.openxmlformats.org/officeDocument/2006/relationships/hyperlink" Target="https://ieeexplore.ieee.org/abstract/document/10066795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7288-6DAC-D823-8AD6-0E388AF6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0CB0D-B8A8-C1AB-71B1-8623BE4E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663" y="2895402"/>
            <a:ext cx="9962674" cy="1067196"/>
          </a:xfr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algn="dist">
              <a:lnSpc>
                <a:spcPct val="100000"/>
              </a:lnSpc>
            </a:pPr>
            <a:r>
              <a:rPr lang="en-US" altLang="zh-TW" sz="6000" spc="20" dirty="0">
                <a:latin typeface="+mj-ea"/>
              </a:rPr>
              <a:t>NBA</a:t>
            </a:r>
            <a:r>
              <a:rPr lang="zh-TW" altLang="en-US" sz="6000" spc="20" dirty="0">
                <a:latin typeface="+mj-ea"/>
              </a:rPr>
              <a:t>賽事</a:t>
            </a:r>
            <a:r>
              <a:rPr lang="en-US" altLang="zh-TW" sz="6000" spc="20" dirty="0">
                <a:latin typeface="+mj-ea"/>
              </a:rPr>
              <a:t>AI</a:t>
            </a:r>
            <a:r>
              <a:rPr lang="zh-TW" altLang="en-US" sz="6000" spc="20" dirty="0">
                <a:latin typeface="+mj-ea"/>
              </a:rPr>
              <a:t>預測</a:t>
            </a:r>
            <a:r>
              <a:rPr lang="en-US" altLang="zh-TW" sz="6000" spc="20" dirty="0">
                <a:latin typeface="+mj-ea"/>
              </a:rPr>
              <a:t>-</a:t>
            </a:r>
            <a:r>
              <a:rPr lang="zh-TW" altLang="en-US" sz="6000" spc="20" dirty="0">
                <a:latin typeface="+mj-ea"/>
              </a:rPr>
              <a:t>論文閱讀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F299F7-CD32-62AF-91D2-55690F004EE1}"/>
              </a:ext>
            </a:extLst>
          </p:cNvPr>
          <p:cNvSpPr txBox="1"/>
          <p:nvPr/>
        </p:nvSpPr>
        <p:spPr>
          <a:xfrm>
            <a:off x="4125515" y="415497"/>
            <a:ext cx="3940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報告主題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9EB551-10C7-4259-9318-3BF7D9EE6B31}"/>
              </a:ext>
            </a:extLst>
          </p:cNvPr>
          <p:cNvSpPr txBox="1"/>
          <p:nvPr/>
        </p:nvSpPr>
        <p:spPr>
          <a:xfrm>
            <a:off x="7206554" y="5934670"/>
            <a:ext cx="5137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報告者</a:t>
            </a:r>
            <a:r>
              <a:rPr lang="en-US" altLang="zh-TW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徐博凱</a:t>
            </a:r>
          </a:p>
        </p:txBody>
      </p:sp>
    </p:spTree>
    <p:extLst>
      <p:ext uri="{BB962C8B-B14F-4D97-AF65-F5344CB8AC3E}">
        <p14:creationId xmlns:p14="http://schemas.microsoft.com/office/powerpoint/2010/main" val="131930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984277-45D5-BED6-3B76-7C60208E68D0}"/>
              </a:ext>
            </a:extLst>
          </p:cNvPr>
          <p:cNvSpPr txBox="1">
            <a:spLocks/>
          </p:cNvSpPr>
          <p:nvPr/>
        </p:nvSpPr>
        <p:spPr>
          <a:xfrm>
            <a:off x="1298558" y="2992466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報告</a:t>
            </a:r>
            <a:r>
              <a:rPr lang="en-US" altLang="zh-TW" sz="2800" dirty="0"/>
              <a:t>2</a:t>
            </a:r>
            <a:r>
              <a:rPr lang="zh-TW" altLang="en-US" sz="2800" dirty="0"/>
              <a:t>篇論文</a:t>
            </a:r>
            <a:endParaRPr lang="en-US" altLang="zh-TW" sz="2800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7AB1C57-496C-CBD8-1932-0D3623F6F50D}"/>
              </a:ext>
            </a:extLst>
          </p:cNvPr>
          <p:cNvSpPr txBox="1">
            <a:spLocks/>
          </p:cNvSpPr>
          <p:nvPr/>
        </p:nvSpPr>
        <p:spPr>
          <a:xfrm>
            <a:off x="1298558" y="1489797"/>
            <a:ext cx="10302892" cy="753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報告</a:t>
            </a:r>
            <a:r>
              <a:rPr lang="en-US" altLang="zh-TW" sz="2800" dirty="0"/>
              <a:t>3</a:t>
            </a:r>
            <a:r>
              <a:rPr lang="zh-TW" altLang="en-US" sz="2800" dirty="0"/>
              <a:t>篇論文</a:t>
            </a:r>
            <a:endParaRPr lang="en-US" altLang="zh-TW" sz="2800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E1B3235-64C4-1FF1-F27E-CDDA1311789C}"/>
              </a:ext>
            </a:extLst>
          </p:cNvPr>
          <p:cNvSpPr txBox="1">
            <a:spLocks/>
          </p:cNvSpPr>
          <p:nvPr/>
        </p:nvSpPr>
        <p:spPr>
          <a:xfrm>
            <a:off x="1298558" y="837334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預計</a:t>
            </a:r>
            <a:r>
              <a:rPr lang="en-US" altLang="zh-TW" sz="2800" dirty="0"/>
              <a:t>: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EBD6FE93-87A4-64EA-3948-98DEEF1FFF65}"/>
              </a:ext>
            </a:extLst>
          </p:cNvPr>
          <p:cNvSpPr txBox="1">
            <a:spLocks/>
          </p:cNvSpPr>
          <p:nvPr/>
        </p:nvSpPr>
        <p:spPr>
          <a:xfrm>
            <a:off x="1298558" y="2213756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完成</a:t>
            </a:r>
            <a:r>
              <a:rPr lang="en-US" altLang="zh-TW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3248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BAC4-3E8B-8B6F-1557-E69EAC46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E06E45F-45EC-D4D5-B862-7D69C464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56" y="114300"/>
            <a:ext cx="1516019" cy="733425"/>
          </a:xfrm>
        </p:spPr>
        <p:txBody>
          <a:bodyPr>
            <a:normAutofit/>
          </a:bodyPr>
          <a:lstStyle/>
          <a:p>
            <a:pPr algn="ctr"/>
            <a:r>
              <a:rPr lang="zh-TW" altLang="en-US" sz="2400" dirty="0"/>
              <a:t>參考文獻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924CFEF-566D-FD46-8781-E554EF1B7553}"/>
              </a:ext>
            </a:extLst>
          </p:cNvPr>
          <p:cNvSpPr txBox="1">
            <a:spLocks/>
          </p:cNvSpPr>
          <p:nvPr/>
        </p:nvSpPr>
        <p:spPr>
          <a:xfrm>
            <a:off x="1179556" y="847724"/>
            <a:ext cx="10098044" cy="57054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cap="none" dirty="0"/>
              <a:t>Mun, K., Cha, B., Lee, J., Kim, J., &amp; Jo, H. (2023, February). </a:t>
            </a:r>
            <a:r>
              <a:rPr lang="en-US" altLang="zh-TW" sz="2400" cap="none" dirty="0" err="1"/>
              <a:t>CompeteNet</a:t>
            </a:r>
            <a:r>
              <a:rPr lang="en-US" altLang="zh-TW" sz="2400" cap="none" dirty="0"/>
              <a:t>: Siamese networks for predicting win-loss outcomes in baseball games. In </a:t>
            </a:r>
            <a:r>
              <a:rPr lang="en-US" altLang="zh-TW" sz="2400" i="1" cap="none" dirty="0"/>
              <a:t>2023 IEEE international conference on big data and smart computing (</a:t>
            </a:r>
            <a:r>
              <a:rPr lang="en-US" altLang="zh-TW" sz="2400" i="1" cap="none" dirty="0" err="1"/>
              <a:t>BigComp</a:t>
            </a:r>
            <a:r>
              <a:rPr lang="en-US" altLang="zh-TW" sz="2400" i="1" cap="none" dirty="0"/>
              <a:t>)</a:t>
            </a:r>
            <a:r>
              <a:rPr lang="en-US" altLang="zh-TW" sz="2400" cap="none" dirty="0"/>
              <a:t> (pp. 1-8). IEEE.</a:t>
            </a:r>
            <a:r>
              <a:rPr lang="en-US" altLang="zh-TW" sz="2400" cap="none" dirty="0">
                <a:hlinkClick r:id="rId2"/>
              </a:rPr>
              <a:t> </a:t>
            </a:r>
            <a:r>
              <a:rPr lang="en-US" altLang="zh-TW" sz="2400" dirty="0" err="1">
                <a:hlinkClick r:id="rId2"/>
              </a:rPr>
              <a:t>CompeteNet</a:t>
            </a:r>
            <a:r>
              <a:rPr lang="en-US" altLang="zh-TW" sz="2400" dirty="0">
                <a:hlinkClick r:id="rId2"/>
              </a:rPr>
              <a:t>: Siamese Networks for Predicting Win-Loss Outcomes in Baseball Games | IEEE Conference Publication | IEEE Xplore</a:t>
            </a:r>
            <a:endParaRPr lang="en-US" altLang="zh-TW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cap="none" dirty="0"/>
              <a:t>Freitas, V. S. (2024). Optimizing Sports Outcome Prediction Through Feature Engineering and Machine Learning.</a:t>
            </a:r>
            <a:r>
              <a:rPr lang="en-US" altLang="zh-TW" sz="2400" dirty="0">
                <a:hlinkClick r:id="rId3"/>
              </a:rPr>
              <a:t> "Optimizing Sports Outcome Prediction Through Feature Engineering and M" by Vitor S. Freitas</a:t>
            </a:r>
            <a:endParaRPr lang="zh-TW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58843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AC36-35DA-2DC2-5C8F-39082FA3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83B88E9-A865-C587-B438-B30BC6DAF1B3}"/>
              </a:ext>
            </a:extLst>
          </p:cNvPr>
          <p:cNvSpPr txBox="1">
            <a:spLocks/>
          </p:cNvSpPr>
          <p:nvPr/>
        </p:nvSpPr>
        <p:spPr>
          <a:xfrm>
            <a:off x="-33338" y="2040731"/>
            <a:ext cx="12258675" cy="2452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CompeteNet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預測棒球賽事勝負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dirty="0" err="1"/>
              <a:t>CompeteNet</a:t>
            </a:r>
            <a:r>
              <a:rPr lang="en-US" altLang="zh-TW" sz="4000" dirty="0"/>
              <a:t>: Siamese Networks for Predicting Win-Loss Outcomes in Baseball Games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73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2912870" y="-266610"/>
            <a:ext cx="7015163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CompeteNet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預測棒球賽事勝負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3B5687-A701-B1F5-EC99-EDF9DFC7E4F0}"/>
              </a:ext>
            </a:extLst>
          </p:cNvPr>
          <p:cNvSpPr txBox="1">
            <a:spLocks/>
          </p:cNvSpPr>
          <p:nvPr/>
        </p:nvSpPr>
        <p:spPr>
          <a:xfrm>
            <a:off x="896555" y="819270"/>
            <a:ext cx="11047795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CompeteNet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結合了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MLP-Encoder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MLP-Compete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的優點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TW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打者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6FE13AB-66B2-E837-7E38-1D4ED39CE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838631"/>
              </p:ext>
            </p:extLst>
          </p:nvPr>
        </p:nvGraphicFramePr>
        <p:xfrm>
          <a:off x="896555" y="1914645"/>
          <a:ext cx="10600120" cy="47908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總打席數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(PA)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上場打擊者加總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總打數</a:t>
                      </a:r>
                      <a:r>
                        <a:rPr lang="en-US" altLang="zh-TW" sz="2800" dirty="0"/>
                        <a:t>(AB)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PA-(BB+IBB+HBP+SH+SF)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打點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(RBI)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讓自己或隊友成功上壘次數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得分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(R)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選手上壘得分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一壘安打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(H1)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打者擊球後成功上一壘次數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44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83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8D32-7FD0-1C14-C6EE-0B2885C5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0B3DE4-89CB-92E2-78C9-95654B82A1F3}"/>
              </a:ext>
            </a:extLst>
          </p:cNvPr>
          <p:cNvSpPr txBox="1">
            <a:spLocks/>
          </p:cNvSpPr>
          <p:nvPr/>
        </p:nvSpPr>
        <p:spPr>
          <a:xfrm>
            <a:off x="915606" y="209670"/>
            <a:ext cx="303726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打者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0235F0-CE78-4338-7CC5-6CBB44A49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337496"/>
              </p:ext>
            </p:extLst>
          </p:nvPr>
        </p:nvGraphicFramePr>
        <p:xfrm>
          <a:off x="915606" y="1045908"/>
          <a:ext cx="10371520" cy="53582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二壘安打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(H2)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打者擊球後成功上二壘次數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(H3)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打者擊球後成功上三壘次數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全壘打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(HR)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打者擊球後成功跑完所有壘包次數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總安打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H1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H2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H3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HR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盜壘成功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盜壘上了幾個壘包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盜壘失敗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(CS)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盜壘失敗被阻殺出局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08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E622-1E5E-D5A5-83AD-D8DBD98E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6AC343-763F-475E-C3FE-D413FBEF629A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打者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3CDDE6-B5C4-9FA9-6BEF-B4C66059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27559"/>
              </p:ext>
            </p:extLst>
          </p:nvPr>
        </p:nvGraphicFramePr>
        <p:xfrm>
          <a:off x="915606" y="1045908"/>
          <a:ext cx="10371520" cy="55451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犧牲觸擊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(SH)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使用觸擊短打自己出局讓隊友安全到下一壘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犧牲飛球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(SF)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打出高飛球讓三壘得分的次數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保送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四壞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(BB)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打者安全上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故意保送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四壞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(IBB)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故意四壞讓打者只能上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觸身球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(HBP)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球擊中打者安全上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三振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(SO)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累積三顆好球後被判出局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73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5436-5BAE-79C6-FEFF-44467A12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B674F2-98D7-38F7-854C-6C77FF4FC6EB}"/>
              </a:ext>
            </a:extLst>
          </p:cNvPr>
          <p:cNvSpPr txBox="1">
            <a:spLocks/>
          </p:cNvSpPr>
          <p:nvPr/>
        </p:nvSpPr>
        <p:spPr>
          <a:xfrm>
            <a:off x="915606" y="171570"/>
            <a:ext cx="29705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打者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A486E6-4FDC-636A-8888-89871BAD2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50289"/>
              </p:ext>
            </p:extLst>
          </p:nvPr>
        </p:nvGraphicFramePr>
        <p:xfrm>
          <a:off x="915606" y="1045908"/>
          <a:ext cx="10371520" cy="14711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雙殺打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(SH)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擊出內野滾地讓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個跑者出局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</a:tbl>
          </a:graphicData>
        </a:graphic>
      </p:graphicFrame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5DC92DD1-75DB-F511-9DA0-250594430FE1}"/>
              </a:ext>
            </a:extLst>
          </p:cNvPr>
          <p:cNvSpPr txBox="1">
            <a:spLocks/>
          </p:cNvSpPr>
          <p:nvPr/>
        </p:nvSpPr>
        <p:spPr>
          <a:xfrm>
            <a:off x="910240" y="2731078"/>
            <a:ext cx="29705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投手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4D3D2E9-57B4-823D-9B3A-D9F424D36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327211"/>
              </p:ext>
            </p:extLst>
          </p:nvPr>
        </p:nvGraphicFramePr>
        <p:xfrm>
          <a:off x="910240" y="3605416"/>
          <a:ext cx="10371520" cy="31515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是否為先發投手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(SP)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檢查是否為先發或候補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勝場</a:t>
                      </a:r>
                      <a:r>
                        <a:rPr lang="en-US" altLang="zh-TW" sz="2800" b="0" dirty="0">
                          <a:solidFill>
                            <a:schemeClr val="bg1"/>
                          </a:solidFill>
                        </a:rPr>
                        <a:t>(W)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投手退場後分數領先到比賽結束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29881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敗場</a:t>
                      </a:r>
                      <a:r>
                        <a:rPr lang="en-US" altLang="zh-TW" sz="2800" b="0" dirty="0">
                          <a:solidFill>
                            <a:schemeClr val="bg1"/>
                          </a:solidFill>
                        </a:rPr>
                        <a:t>(L)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投手在場上讓敵隊取得領先分數直到比賽結束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392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95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3EF7-E3C7-6203-7894-1D14B393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078965-F591-DC95-5BCE-7F00C3C5CEC3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投手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13E9AE-D45B-7F5A-6E6A-768B09923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266"/>
              </p:ext>
            </p:extLst>
          </p:nvPr>
        </p:nvGraphicFramePr>
        <p:xfrm>
          <a:off x="915606" y="1045908"/>
          <a:ext cx="10371520" cy="55451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投球局數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(INN)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INN(0.1)/1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人、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INN(0.2)/2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人、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INN(1)/3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面對打者數</a:t>
                      </a:r>
                      <a:r>
                        <a:rPr lang="en-US" altLang="zh-TW" sz="2800" b="0" dirty="0">
                          <a:solidFill>
                            <a:schemeClr val="bg1"/>
                          </a:solidFill>
                        </a:rPr>
                        <a:t>(BF)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投手在場上面對的打者總人數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打席數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(PA)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投手面對的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PA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數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打數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(AB)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投手面對的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AB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數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(H1)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(H2)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5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B56E-C601-2A5F-CA88-FB407E0A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DAD3E1-8C77-D94B-0963-C9DC090CC4CC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投手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C4683B8-8ACB-66E6-4B60-276C4D445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285849"/>
              </p:ext>
            </p:extLst>
          </p:nvPr>
        </p:nvGraphicFramePr>
        <p:xfrm>
          <a:off x="915606" y="1045908"/>
          <a:ext cx="10371520" cy="575448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(H3)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投手被擊出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壘安打的總次數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被擊出全壘打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(HR)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投手被擊出全壘打的總次數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被擊出總安打數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所有安打總合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被盜壘成功次數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該投手被成功盜壘的總次數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跑者盜壘失敗數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(CS)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投手在場上跑者失敗盜壘的總次數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被犧牲觸擊數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(SH)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投手在場上被成功執行犧牲觸擊的次數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27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9DEF-09ED-2084-A2A2-2905B926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C0F3BE-056F-4803-9DAC-C6F18EFE3547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投手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DEFFEBB-C22F-60EC-A62F-4899712C6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73820"/>
              </p:ext>
            </p:extLst>
          </p:nvPr>
        </p:nvGraphicFramePr>
        <p:xfrm>
          <a:off x="915606" y="1045908"/>
          <a:ext cx="10371520" cy="53358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被犧牲飛球數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(SF)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投手被成功執行犧牲飛球次數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保送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四壞球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(BB)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該投手投出四壞球的數量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故意四壞球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(IBB)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該投手故意投出四壞球的數量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投出觸身球數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(HBP)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投手的球擊中打者的總數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三振數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(K)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投手成功三振敵人的次數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製造雙殺打數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(GIDP)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投手成功讓打者擊出雙殺打次數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832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806A-B2EF-80BC-746F-36502AEF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F004DD-76A1-E953-6C89-2E970544C0F6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投手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D0AAF0-5E07-18B9-219A-81D03C2A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286709"/>
              </p:ext>
            </p:extLst>
          </p:nvPr>
        </p:nvGraphicFramePr>
        <p:xfrm>
          <a:off x="915606" y="1045908"/>
          <a:ext cx="10371520" cy="38647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投手犯規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(BK)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投手被判犯規總次數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失誤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(E)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投手發生失誤的次數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失分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(R)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投手在場上對手獲得的分數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責失分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(ER)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只考慮投手的失分指標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305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F9F2-5E7E-2B81-A97A-5A27F34A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1A6C2A-69BC-4793-5536-C2017C952890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29420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團隊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78C0AF5-2799-26EF-68DB-34133D7AD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359245"/>
              </p:ext>
            </p:extLst>
          </p:nvPr>
        </p:nvGraphicFramePr>
        <p:xfrm>
          <a:off x="915606" y="1045908"/>
          <a:ext cx="10371520" cy="3129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總賽季勝率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(Win%)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賽季中對上所有隊伍的勝率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特定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隊的勝率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(Relative Win%)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賽季中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隊伍相比的勝率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故意四壞球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(IBB)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該投手故意投出四壞球的數量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8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43AE-7C94-1BDA-19DF-E6EC3AF8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F6AF2D-6906-74F7-3137-1F9FE6BDB224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105606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補充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FD9490-8865-AAD7-0325-725C4292D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3" y="952670"/>
            <a:ext cx="10464582" cy="42860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24BB75-BA39-305F-68DD-7A286F1A6821}"/>
              </a:ext>
            </a:extLst>
          </p:cNvPr>
          <p:cNvSpPr/>
          <p:nvPr/>
        </p:nvSpPr>
        <p:spPr>
          <a:xfrm>
            <a:off x="1405540" y="2800349"/>
            <a:ext cx="899510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BABC79-3D3C-3D96-C435-E7A6E4F86248}"/>
              </a:ext>
            </a:extLst>
          </p:cNvPr>
          <p:cNvSpPr/>
          <p:nvPr/>
        </p:nvSpPr>
        <p:spPr>
          <a:xfrm>
            <a:off x="6437080" y="2800349"/>
            <a:ext cx="2254636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75B615-D49B-CBB7-7689-5FCD3C115050}"/>
              </a:ext>
            </a:extLst>
          </p:cNvPr>
          <p:cNvSpPr/>
          <p:nvPr/>
        </p:nvSpPr>
        <p:spPr>
          <a:xfrm>
            <a:off x="2498427" y="2819586"/>
            <a:ext cx="899510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8D064C-1081-3730-F385-DEDEFA805AEC}"/>
              </a:ext>
            </a:extLst>
          </p:cNvPr>
          <p:cNvSpPr/>
          <p:nvPr/>
        </p:nvSpPr>
        <p:spPr>
          <a:xfrm>
            <a:off x="4094663" y="2819586"/>
            <a:ext cx="899510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4CAFE1-0C93-6981-4206-DDA6016701F5}"/>
              </a:ext>
            </a:extLst>
          </p:cNvPr>
          <p:cNvSpPr/>
          <p:nvPr/>
        </p:nvSpPr>
        <p:spPr>
          <a:xfrm>
            <a:off x="5163471" y="2819586"/>
            <a:ext cx="899510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42FECD-F3E6-CBE6-7387-B4AA7284C703}"/>
              </a:ext>
            </a:extLst>
          </p:cNvPr>
          <p:cNvSpPr/>
          <p:nvPr/>
        </p:nvSpPr>
        <p:spPr>
          <a:xfrm>
            <a:off x="9214693" y="2819586"/>
            <a:ext cx="2254636" cy="2124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025ECC8-5C2E-F8DF-C002-30BAC64F2574}"/>
              </a:ext>
            </a:extLst>
          </p:cNvPr>
          <p:cNvSpPr txBox="1"/>
          <p:nvPr/>
        </p:nvSpPr>
        <p:spPr>
          <a:xfrm>
            <a:off x="3293554" y="5643720"/>
            <a:ext cx="6095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(</a:t>
            </a:r>
            <a:r>
              <a:rPr lang="zh-TW" altLang="en-US" sz="2800" dirty="0"/>
              <a:t>見</a:t>
            </a:r>
            <a:r>
              <a:rPr lang="en-US" altLang="zh-TW" sz="2800" dirty="0"/>
              <a:t>Mun, Cha, Lee,</a:t>
            </a:r>
            <a:r>
              <a:rPr lang="zh-TW" altLang="en-US" sz="2800" dirty="0"/>
              <a:t> </a:t>
            </a:r>
            <a:r>
              <a:rPr lang="en-US" altLang="zh-TW" sz="2800" dirty="0"/>
              <a:t>Kim, &amp; Jo, 2023, Fig4)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3213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F540-60AE-A965-241F-563528FE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080E73-7BA3-D53D-9B88-AE22B909DFFD}"/>
              </a:ext>
            </a:extLst>
          </p:cNvPr>
          <p:cNvSpPr txBox="1">
            <a:spLocks/>
          </p:cNvSpPr>
          <p:nvPr/>
        </p:nvSpPr>
        <p:spPr>
          <a:xfrm>
            <a:off x="915606" y="190730"/>
            <a:ext cx="105606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補充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DCF28B6-D2F0-41C3-617E-D5D0830D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00" y="1034964"/>
            <a:ext cx="5801984" cy="54991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D6A055C-A83F-0A18-13EE-46A3D4854C89}"/>
              </a:ext>
            </a:extLst>
          </p:cNvPr>
          <p:cNvSpPr/>
          <p:nvPr/>
        </p:nvSpPr>
        <p:spPr>
          <a:xfrm>
            <a:off x="1338864" y="3914775"/>
            <a:ext cx="918561" cy="169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A5A3EB-C07C-4ED4-6851-E349C3903B42}"/>
              </a:ext>
            </a:extLst>
          </p:cNvPr>
          <p:cNvSpPr/>
          <p:nvPr/>
        </p:nvSpPr>
        <p:spPr>
          <a:xfrm>
            <a:off x="2358039" y="3914775"/>
            <a:ext cx="918561" cy="169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BBF026-0A7D-77F0-D313-683A4FC102A3}"/>
              </a:ext>
            </a:extLst>
          </p:cNvPr>
          <p:cNvSpPr/>
          <p:nvPr/>
        </p:nvSpPr>
        <p:spPr>
          <a:xfrm>
            <a:off x="4491639" y="3914775"/>
            <a:ext cx="918561" cy="169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20B9BC-E19C-30BD-6431-894E06295F2E}"/>
              </a:ext>
            </a:extLst>
          </p:cNvPr>
          <p:cNvSpPr/>
          <p:nvPr/>
        </p:nvSpPr>
        <p:spPr>
          <a:xfrm>
            <a:off x="5527950" y="3914775"/>
            <a:ext cx="918561" cy="169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632A27-8502-8DD2-7A39-36B7B6D4F1FA}"/>
              </a:ext>
            </a:extLst>
          </p:cNvPr>
          <p:cNvSpPr/>
          <p:nvPr/>
        </p:nvSpPr>
        <p:spPr>
          <a:xfrm>
            <a:off x="1898758" y="2514600"/>
            <a:ext cx="918561" cy="104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26031D-3BE3-BCEC-65B3-A71B5809DD6B}"/>
              </a:ext>
            </a:extLst>
          </p:cNvPr>
          <p:cNvSpPr/>
          <p:nvPr/>
        </p:nvSpPr>
        <p:spPr>
          <a:xfrm>
            <a:off x="5068669" y="2514600"/>
            <a:ext cx="918561" cy="104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7D3D33C-4D9E-AFF5-535D-C62D5990C4AF}"/>
              </a:ext>
            </a:extLst>
          </p:cNvPr>
          <p:cNvSpPr txBox="1"/>
          <p:nvPr/>
        </p:nvSpPr>
        <p:spPr>
          <a:xfrm>
            <a:off x="7140848" y="3239154"/>
            <a:ext cx="32996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(</a:t>
            </a:r>
            <a:r>
              <a:rPr lang="zh-TW" altLang="en-US" sz="2800" dirty="0"/>
              <a:t>見</a:t>
            </a:r>
            <a:r>
              <a:rPr lang="en-US" altLang="zh-TW" sz="2800" dirty="0"/>
              <a:t>Mun, Cha, Lee,</a:t>
            </a:r>
            <a:r>
              <a:rPr lang="zh-TW" altLang="en-US" sz="2800" dirty="0"/>
              <a:t> </a:t>
            </a:r>
            <a:r>
              <a:rPr lang="en-US" altLang="zh-TW" sz="2800" dirty="0"/>
              <a:t>Kim, &amp; Jo, 2023, Fig5)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1776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2FE2-A57C-66A4-56AA-1C4C0DA1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96A79D-01DE-A895-D348-C1F871BF42D0}"/>
              </a:ext>
            </a:extLst>
          </p:cNvPr>
          <p:cNvSpPr txBox="1">
            <a:spLocks/>
          </p:cNvSpPr>
          <p:nvPr/>
        </p:nvSpPr>
        <p:spPr>
          <a:xfrm>
            <a:off x="915607" y="190730"/>
            <a:ext cx="18656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8AF14F-0756-FAE3-97E3-37D8C415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70" y="1161900"/>
            <a:ext cx="9501605" cy="342482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9A7FA6A-2A30-D954-072F-DA4AA7564FF4}"/>
              </a:ext>
            </a:extLst>
          </p:cNvPr>
          <p:cNvSpPr txBox="1"/>
          <p:nvPr/>
        </p:nvSpPr>
        <p:spPr>
          <a:xfrm>
            <a:off x="2794862" y="5010955"/>
            <a:ext cx="6602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(</a:t>
            </a:r>
            <a:r>
              <a:rPr lang="zh-TW" altLang="en-US" sz="2800" dirty="0"/>
              <a:t>見</a:t>
            </a:r>
            <a:r>
              <a:rPr lang="en-US" altLang="zh-TW" sz="2800" dirty="0"/>
              <a:t>Mun, Cha, Lee,</a:t>
            </a:r>
            <a:r>
              <a:rPr lang="zh-TW" altLang="en-US" sz="2800" dirty="0"/>
              <a:t> </a:t>
            </a:r>
            <a:r>
              <a:rPr lang="en-US" altLang="zh-TW" sz="2800" dirty="0"/>
              <a:t>Kim, &amp; Jo, 2023, TABLE</a:t>
            </a:r>
            <a:r>
              <a:rPr lang="zh-TW" altLang="en-US" sz="2800" dirty="0"/>
              <a:t> </a:t>
            </a:r>
            <a:r>
              <a:rPr lang="en-US" altLang="zh-TW" sz="2800" dirty="0"/>
              <a:t>VI)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138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9C6B-4C57-64E0-20F0-60D8C8D1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6C5784F-453B-A6DC-9213-1706E826A756}"/>
              </a:ext>
            </a:extLst>
          </p:cNvPr>
          <p:cNvSpPr txBox="1">
            <a:spLocks/>
          </p:cNvSpPr>
          <p:nvPr/>
        </p:nvSpPr>
        <p:spPr>
          <a:xfrm>
            <a:off x="0" y="1881187"/>
            <a:ext cx="12144375" cy="2319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特徵工程與機器學習優化預測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dirty="0"/>
              <a:t>Optimizing Sports Outcome Prediction Through Feature Engineering and Machine Learning.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2818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DE6B-AA55-1E3C-D93E-118EAE87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30CD28DA-3638-6D6B-D300-36D02224F469}"/>
              </a:ext>
            </a:extLst>
          </p:cNvPr>
          <p:cNvSpPr txBox="1">
            <a:spLocks/>
          </p:cNvSpPr>
          <p:nvPr/>
        </p:nvSpPr>
        <p:spPr>
          <a:xfrm>
            <a:off x="2812714" y="-76096"/>
            <a:ext cx="7055185" cy="77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特徵工程與機器學習優化預測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4ECE29-F81B-DEF3-C450-259046FC1665}"/>
              </a:ext>
            </a:extLst>
          </p:cNvPr>
          <p:cNvSpPr txBox="1">
            <a:spLocks/>
          </p:cNvSpPr>
          <p:nvPr/>
        </p:nvSpPr>
        <p:spPr>
          <a:xfrm>
            <a:off x="776889" y="700147"/>
            <a:ext cx="4294570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機器學習模型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3352DA-B78C-230F-9F03-CFF1878C7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6048"/>
              </p:ext>
            </p:extLst>
          </p:nvPr>
        </p:nvGraphicFramePr>
        <p:xfrm>
          <a:off x="872140" y="2367067"/>
          <a:ext cx="10600120" cy="15969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自適應加權特徵</a:t>
                      </a:r>
                      <a:r>
                        <a:rPr lang="en-US" altLang="zh-TW" sz="2800" dirty="0"/>
                        <a:t>(AW)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近幾場的數據加權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</a:tbl>
          </a:graphicData>
        </a:graphic>
      </p:graphicFrame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46521A59-FC5C-D99C-AE3E-F61AC7275E45}"/>
              </a:ext>
            </a:extLst>
          </p:cNvPr>
          <p:cNvSpPr txBox="1">
            <a:spLocks/>
          </p:cNvSpPr>
          <p:nvPr/>
        </p:nvSpPr>
        <p:spPr>
          <a:xfrm>
            <a:off x="776889" y="1557277"/>
            <a:ext cx="11234135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加權後的特徵運算完後再用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選最高準確率的特徵組合。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7044E02-C8BB-C6CE-BCA7-3F0A24EF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40" y="4276561"/>
            <a:ext cx="5284991" cy="218138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5EAFFE4-1A32-1852-F7EB-E5682134D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35" y="4276561"/>
            <a:ext cx="4878985" cy="2181389"/>
          </a:xfrm>
          <a:prstGeom prst="rect">
            <a:avLst/>
          </a:prstGeom>
        </p:spPr>
      </p:pic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1561D2D2-821A-C6D7-9C54-CE09F9A0A12A}"/>
              </a:ext>
            </a:extLst>
          </p:cNvPr>
          <p:cNvSpPr txBox="1">
            <a:spLocks/>
          </p:cNvSpPr>
          <p:nvPr/>
        </p:nvSpPr>
        <p:spPr>
          <a:xfrm>
            <a:off x="4583432" y="5500748"/>
            <a:ext cx="1512568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挑選近 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 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場</a:t>
            </a:r>
          </a:p>
        </p:txBody>
      </p:sp>
      <p:sp>
        <p:nvSpPr>
          <p:cNvPr id="11" name="文字版面配置區 2">
            <a:extLst>
              <a:ext uri="{FF2B5EF4-FFF2-40B4-BE49-F238E27FC236}">
                <a16:creationId xmlns:a16="http://schemas.microsoft.com/office/drawing/2014/main" id="{9B6CA5C4-47A9-F9C8-D353-D7A961839662}"/>
              </a:ext>
            </a:extLst>
          </p:cNvPr>
          <p:cNvSpPr txBox="1">
            <a:spLocks/>
          </p:cNvSpPr>
          <p:nvPr/>
        </p:nvSpPr>
        <p:spPr>
          <a:xfrm>
            <a:off x="4330627" y="5813278"/>
            <a:ext cx="1826503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權重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越近越高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A52469C4-4530-DD21-55CC-EE7DB156AC48}"/>
              </a:ext>
            </a:extLst>
          </p:cNvPr>
          <p:cNvSpPr txBox="1">
            <a:spLocks/>
          </p:cNvSpPr>
          <p:nvPr/>
        </p:nvSpPr>
        <p:spPr>
          <a:xfrm>
            <a:off x="3096594" y="6038850"/>
            <a:ext cx="1380156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最近第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場</a:t>
            </a:r>
            <a:endParaRPr lang="en-US" altLang="zh-TW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B0E2250F-C89C-BF05-80D6-625A574F2536}"/>
              </a:ext>
            </a:extLst>
          </p:cNvPr>
          <p:cNvSpPr txBox="1">
            <a:spLocks/>
          </p:cNvSpPr>
          <p:nvPr/>
        </p:nvSpPr>
        <p:spPr>
          <a:xfrm>
            <a:off x="8723632" y="5500748"/>
            <a:ext cx="1974848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 </a:t>
            </a:r>
            <a:r>
              <a:rPr lang="en-US" altLang="zh-TW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個原始特徵</a:t>
            </a:r>
          </a:p>
        </p:txBody>
      </p:sp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D7DFEF36-8176-2AF8-0D63-DAD4E9427B5D}"/>
              </a:ext>
            </a:extLst>
          </p:cNvPr>
          <p:cNvSpPr txBox="1">
            <a:spLocks/>
          </p:cNvSpPr>
          <p:nvPr/>
        </p:nvSpPr>
        <p:spPr>
          <a:xfrm>
            <a:off x="8218522" y="5784086"/>
            <a:ext cx="1974848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n)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最近第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場</a:t>
            </a:r>
          </a:p>
        </p:txBody>
      </p:sp>
      <p:sp>
        <p:nvSpPr>
          <p:cNvPr id="16" name="文字版面配置區 2">
            <a:extLst>
              <a:ext uri="{FF2B5EF4-FFF2-40B4-BE49-F238E27FC236}">
                <a16:creationId xmlns:a16="http://schemas.microsoft.com/office/drawing/2014/main" id="{4685F725-CCFF-AAFC-C318-A9BFD3606887}"/>
              </a:ext>
            </a:extLst>
          </p:cNvPr>
          <p:cNvSpPr txBox="1">
            <a:spLocks/>
          </p:cNvSpPr>
          <p:nvPr/>
        </p:nvSpPr>
        <p:spPr>
          <a:xfrm>
            <a:off x="8992872" y="6049010"/>
            <a:ext cx="2101848" cy="50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最近第</a:t>
            </a:r>
            <a:r>
              <a:rPr lang="en-US" altLang="zh-TW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場的權重</a:t>
            </a:r>
          </a:p>
        </p:txBody>
      </p:sp>
    </p:spTree>
    <p:extLst>
      <p:ext uri="{BB962C8B-B14F-4D97-AF65-F5344CB8AC3E}">
        <p14:creationId xmlns:p14="http://schemas.microsoft.com/office/powerpoint/2010/main" val="1012605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6ACD-DB1B-CF40-5608-9D9C46145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633CF7-FE93-FF40-C8F3-27A350740B1D}"/>
              </a:ext>
            </a:extLst>
          </p:cNvPr>
          <p:cNvSpPr txBox="1">
            <a:spLocks/>
          </p:cNvSpPr>
          <p:nvPr/>
        </p:nvSpPr>
        <p:spPr>
          <a:xfrm>
            <a:off x="915607" y="190730"/>
            <a:ext cx="18656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EB4578-219B-F6B0-586B-9762DF9DF458}"/>
              </a:ext>
            </a:extLst>
          </p:cNvPr>
          <p:cNvSpPr txBox="1"/>
          <p:nvPr/>
        </p:nvSpPr>
        <p:spPr>
          <a:xfrm>
            <a:off x="8134350" y="3599718"/>
            <a:ext cx="4097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(</a:t>
            </a:r>
            <a:r>
              <a:rPr lang="zh-TW" altLang="en-US" sz="2800" dirty="0"/>
              <a:t>見</a:t>
            </a:r>
            <a:r>
              <a:rPr lang="en-US" altLang="zh-TW" sz="2800" dirty="0"/>
              <a:t>Freitas, 2024, TABLE</a:t>
            </a:r>
            <a:r>
              <a:rPr lang="zh-TW" altLang="en-US" sz="2800" dirty="0"/>
              <a:t> </a:t>
            </a:r>
            <a:r>
              <a:rPr lang="en-US" altLang="zh-TW" sz="2800" dirty="0"/>
              <a:t>2)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8D04B4-0BDB-2E90-1299-7847AB6B7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84" y="952670"/>
            <a:ext cx="7058866" cy="58173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CC1394C-486E-05FC-F6BB-198E4B7CD9D3}"/>
              </a:ext>
            </a:extLst>
          </p:cNvPr>
          <p:cNvSpPr/>
          <p:nvPr/>
        </p:nvSpPr>
        <p:spPr>
          <a:xfrm>
            <a:off x="3139089" y="1323975"/>
            <a:ext cx="699486" cy="5172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B7002458-72A6-AC65-F57E-5A1421558767}"/>
                  </a:ext>
                </a:extLst>
              </p14:cNvPr>
              <p14:cNvContentPartPr/>
              <p14:nvPr/>
            </p14:nvContentPartPr>
            <p14:xfrm>
              <a:off x="4647705" y="2162010"/>
              <a:ext cx="486360" cy="9720"/>
            </p14:xfrm>
          </p:contentPart>
        </mc:Choice>
        <mc:Fallback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B7002458-72A6-AC65-F57E-5A14215587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9705" y="2126010"/>
                <a:ext cx="5220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50BF0C1C-B0BD-9A58-A56D-8D478E3D09AA}"/>
                  </a:ext>
                </a:extLst>
              </p14:cNvPr>
              <p14:cNvContentPartPr/>
              <p14:nvPr/>
            </p14:nvContentPartPr>
            <p14:xfrm>
              <a:off x="4638345" y="2124210"/>
              <a:ext cx="533160" cy="1044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50BF0C1C-B0BD-9A58-A56D-8D478E3D09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20705" y="2088210"/>
                <a:ext cx="5688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7B3FD6C9-4FA8-E552-C588-B255B83C498D}"/>
                  </a:ext>
                </a:extLst>
              </p14:cNvPr>
              <p14:cNvContentPartPr/>
              <p14:nvPr/>
            </p14:nvContentPartPr>
            <p14:xfrm>
              <a:off x="4647705" y="2189010"/>
              <a:ext cx="513720" cy="3096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7B3FD6C9-4FA8-E552-C588-B255B83C49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0065" y="2153010"/>
                <a:ext cx="549360" cy="1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781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8DC0-0E68-39BD-F9A3-63938BF0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5A212E-A43B-F727-BC9C-6904CEE2284F}"/>
              </a:ext>
            </a:extLst>
          </p:cNvPr>
          <p:cNvSpPr txBox="1">
            <a:spLocks/>
          </p:cNvSpPr>
          <p:nvPr/>
        </p:nvSpPr>
        <p:spPr>
          <a:xfrm>
            <a:off x="915607" y="190730"/>
            <a:ext cx="18656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F9A1D1D-98FF-7453-C031-98E445CC7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07" y="1185747"/>
            <a:ext cx="8735644" cy="164805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D50EE9C-3990-44D8-FCF9-7622C0A9A23B}"/>
              </a:ext>
            </a:extLst>
          </p:cNvPr>
          <p:cNvSpPr txBox="1"/>
          <p:nvPr/>
        </p:nvSpPr>
        <p:spPr>
          <a:xfrm>
            <a:off x="915607" y="3167390"/>
            <a:ext cx="4097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(</a:t>
            </a:r>
            <a:r>
              <a:rPr lang="zh-TW" altLang="en-US" sz="2800" dirty="0"/>
              <a:t>見</a:t>
            </a:r>
            <a:r>
              <a:rPr lang="en-US" altLang="zh-TW" sz="2800" dirty="0"/>
              <a:t>Freitas, 2024, TABLE</a:t>
            </a:r>
            <a:r>
              <a:rPr lang="zh-TW" altLang="en-US" sz="2800" dirty="0"/>
              <a:t> </a:t>
            </a:r>
            <a:r>
              <a:rPr lang="en-US" altLang="zh-TW" sz="2800" dirty="0"/>
              <a:t>3)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6079E-CEDF-E91F-733D-82B065F5AEC4}"/>
              </a:ext>
            </a:extLst>
          </p:cNvPr>
          <p:cNvSpPr/>
          <p:nvPr/>
        </p:nvSpPr>
        <p:spPr>
          <a:xfrm>
            <a:off x="1000760" y="1924050"/>
            <a:ext cx="8605519" cy="300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438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856E-7914-A17C-AEE6-F9DB2DB2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9BD71F4-023F-F9F5-36BA-3BF99BAB3EB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821BAD-4CC1-9988-4672-F7795ED74137}"/>
              </a:ext>
            </a:extLst>
          </p:cNvPr>
          <p:cNvSpPr txBox="1">
            <a:spLocks/>
          </p:cNvSpPr>
          <p:nvPr/>
        </p:nvSpPr>
        <p:spPr>
          <a:xfrm>
            <a:off x="1351787" y="1161992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找賽事預測相關論文。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找提高準確率的新特徵、新模型等等做法。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7505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8632</TotalTime>
  <Words>1385</Words>
  <Application>Microsoft Office PowerPoint</Application>
  <PresentationFormat>寬螢幕</PresentationFormat>
  <Paragraphs>196</Paragraphs>
  <Slides>21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Arial</vt:lpstr>
      <vt:lpstr>Calibri</vt:lpstr>
      <vt:lpstr>Tw Cen MT</vt:lpstr>
      <vt:lpstr>Wingdings</vt:lpstr>
      <vt:lpstr>電路</vt:lpstr>
      <vt:lpstr>NBA賽事AI預測-論文閱讀</vt:lpstr>
      <vt:lpstr>PowerPoint 簡報</vt:lpstr>
      <vt:lpstr>參考文獻: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AI賽事預測-作法</dc:title>
  <dc:creator>博凱 徐</dc:creator>
  <cp:lastModifiedBy>博凱 徐</cp:lastModifiedBy>
  <cp:revision>33</cp:revision>
  <dcterms:created xsi:type="dcterms:W3CDTF">2025-07-02T01:22:36Z</dcterms:created>
  <dcterms:modified xsi:type="dcterms:W3CDTF">2025-11-24T14:51:29Z</dcterms:modified>
</cp:coreProperties>
</file>