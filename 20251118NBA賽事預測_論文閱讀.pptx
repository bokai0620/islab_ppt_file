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7" r:id="rId2"/>
    <p:sldId id="359" r:id="rId3"/>
    <p:sldId id="329" r:id="rId4"/>
    <p:sldId id="353" r:id="rId5"/>
    <p:sldId id="301" r:id="rId6"/>
    <p:sldId id="349" r:id="rId7"/>
    <p:sldId id="350" r:id="rId8"/>
    <p:sldId id="351" r:id="rId9"/>
    <p:sldId id="352" r:id="rId10"/>
    <p:sldId id="354" r:id="rId11"/>
    <p:sldId id="355" r:id="rId12"/>
    <p:sldId id="356" r:id="rId13"/>
    <p:sldId id="357" r:id="rId14"/>
    <p:sldId id="358" r:id="rId15"/>
    <p:sldId id="3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DFB32-D697-4E79-BCEA-13BD03C19907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92C6F-8A17-424C-AE18-9528893F4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36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7FD3-2529-CE68-272E-344E69EA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BC502D-3020-BA31-A76A-CC880D4F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F09AE-5C0F-D473-94A5-9B76BF29A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B79EE4-A523-BA42-8361-9F742AB7A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673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1E3F-3AA7-6BEA-55A1-0FCF9124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7CE37-1D4C-C233-A602-9DABF6F6C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394018-944F-BD72-1428-A23083EF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會先經過</a:t>
            </a:r>
            <a:r>
              <a:rPr lang="en-US" altLang="zh-TW" dirty="0"/>
              <a:t>Embedding</a:t>
            </a:r>
            <a:r>
              <a:rPr lang="zh-TW" altLang="en-US" dirty="0"/>
              <a:t>轉成向量後輸入給</a:t>
            </a:r>
            <a:r>
              <a:rPr lang="en-US" altLang="zh-TW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Transformer</a:t>
            </a:r>
            <a:r>
              <a:rPr lang="zh-TW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。透過反向傳播學習。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943722-DC34-A5C3-F58D-B39E91A16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951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5B65-D6BD-CFEF-6CBC-9C9D3FFB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7DC7C05-6AB8-D94C-E618-7DAE60F69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D86273D-197C-483C-FDA3-84F64A98B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MCC</a:t>
            </a:r>
            <a:r>
              <a:rPr lang="zh-TW" altLang="en-US" dirty="0"/>
              <a:t>更全面的評估指標連預測錯誤的場次都有算進去評估。</a:t>
            </a:r>
            <a:endParaRPr lang="en-US" altLang="zh-TW" dirty="0"/>
          </a:p>
          <a:p>
            <a:r>
              <a:rPr lang="en-US" altLang="zh-TW" dirty="0"/>
              <a:t>Recall:</a:t>
            </a:r>
            <a:r>
              <a:rPr lang="zh-TW" altLang="en-US" dirty="0"/>
              <a:t>在實際為贏的所有場次下預測贏為成功的比例。</a:t>
            </a:r>
            <a:endParaRPr lang="en-US" altLang="zh-TW" dirty="0"/>
          </a:p>
          <a:p>
            <a:r>
              <a:rPr lang="en-US" altLang="zh-TW" dirty="0"/>
              <a:t>Precision:</a:t>
            </a:r>
            <a:r>
              <a:rPr lang="zh-TW" altLang="en-US" dirty="0"/>
              <a:t>在所有預測為贏的場次下實際預測成功為贏的比例。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D791C7-6EE2-582A-798C-B46488191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188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49FDA-7173-9797-D80A-F9542687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EA7947-7076-C68D-08C4-E24AD8ABB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28CB3A-5C01-C77B-B092-745ED318A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MCC</a:t>
            </a:r>
            <a:r>
              <a:rPr lang="zh-TW" altLang="en-US" dirty="0"/>
              <a:t>更全面的評估指標連預測錯誤的場次都有算進去評估。</a:t>
            </a:r>
            <a:endParaRPr lang="en-US" altLang="zh-TW" dirty="0"/>
          </a:p>
          <a:p>
            <a:r>
              <a:rPr lang="en-US" altLang="zh-TW" dirty="0"/>
              <a:t>Recall:</a:t>
            </a:r>
            <a:r>
              <a:rPr lang="zh-TW" altLang="en-US" dirty="0"/>
              <a:t>在實際為贏的所有場次下預測贏為成功的比例。</a:t>
            </a:r>
            <a:endParaRPr lang="en-US" altLang="zh-TW" dirty="0"/>
          </a:p>
          <a:p>
            <a:r>
              <a:rPr lang="en-US" altLang="zh-TW" dirty="0"/>
              <a:t>Precision:</a:t>
            </a:r>
            <a:r>
              <a:rPr lang="zh-TW" altLang="en-US" dirty="0"/>
              <a:t>在所有預測為贏的場次下實際預測成功為贏的比例。</a:t>
            </a:r>
            <a:br>
              <a:rPr lang="en-US" altLang="zh-TW" dirty="0"/>
            </a:br>
            <a:r>
              <a:rPr lang="zh-TW" altLang="en-US" dirty="0"/>
              <a:t>因為作者需調整超參數</a:t>
            </a:r>
            <a:r>
              <a:rPr lang="en-US" altLang="zh-TW" dirty="0"/>
              <a:t>(Transformer</a:t>
            </a:r>
            <a:r>
              <a:rPr lang="zh-TW" altLang="en-US" dirty="0"/>
              <a:t>、</a:t>
            </a:r>
            <a:r>
              <a:rPr lang="en-US" altLang="zh-TW" dirty="0"/>
              <a:t>CNN</a:t>
            </a:r>
            <a:r>
              <a:rPr lang="zh-TW" altLang="en-US" dirty="0"/>
              <a:t>、</a:t>
            </a:r>
            <a:r>
              <a:rPr lang="en-US" altLang="zh-TW" dirty="0"/>
              <a:t>embeddings)</a:t>
            </a:r>
            <a:r>
              <a:rPr lang="zh-TW" altLang="en-US" dirty="0"/>
              <a:t>所以需要看驗證集中的準確率來確認而不是測試集的。所以準確率會跟</a:t>
            </a:r>
            <a:r>
              <a:rPr lang="en-US" altLang="zh-TW" dirty="0"/>
              <a:t>Table5</a:t>
            </a:r>
            <a:r>
              <a:rPr lang="zh-TW" altLang="en-US" dirty="0"/>
              <a:t>的測試集不同。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268A03-8CCD-B1BE-AA9C-B20247816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489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D031-7877-09C4-2E1A-7B293E29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DDBCEC-8EE7-DD4A-47CC-5BA4D64A8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F47E85-C777-3921-DEF5-D92195306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FNN</a:t>
            </a:r>
            <a:r>
              <a:rPr lang="zh-TW" altLang="en-US" b="1" dirty="0"/>
              <a:t>沒有反饋環路：</a:t>
            </a:r>
            <a:r>
              <a:rPr lang="zh-TW" altLang="en-US" dirty="0"/>
              <a:t> 與循環神經網路 </a:t>
            </a:r>
            <a:r>
              <a:rPr lang="en-US" altLang="zh-TW" dirty="0"/>
              <a:t>(RNN) </a:t>
            </a:r>
            <a:r>
              <a:rPr lang="zh-TW" altLang="en-US" dirty="0"/>
              <a:t>不同，</a:t>
            </a:r>
            <a:r>
              <a:rPr lang="en-US" altLang="zh-TW" dirty="0"/>
              <a:t>FNN</a:t>
            </a:r>
            <a:r>
              <a:rPr lang="zh-TW" altLang="en-US" dirty="0"/>
              <a:t>中沒有任何資訊可以回傳或形成循環。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CE28B0-5EB0-160C-44DD-F0D8EA4B2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237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9AED-1BBF-1B78-78ED-568408DC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1ED8395-4784-EF96-E61A-3B1BF3160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8D6DF9-DFA6-2BA6-A5C9-C31E138B3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E71458-0103-A736-A2A8-5D42A9E72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932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F87EA-5CFE-4355-B53D-B98C4F35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9E1F85-02B6-0727-157E-3A5761D88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120468A-3757-FC3E-F647-01FF32CAE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1EAF4E-B16B-BD01-01A2-2C655E66B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491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F97D-E37A-EFBA-FE99-7C2D5AC8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BC5619-E857-BD28-1ABC-9524B3D0D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4E99A4-5306-558B-FA78-584417898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08CE71-BAC3-55EE-D78D-6E647CC96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353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A299-FBAA-976E-0298-097CCF3B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C10D00-DEB0-E02D-042C-6E3181186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0F776F-23D0-79AE-1FAD-94E8072B2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7FC907-18E4-BF47-0577-9867BA162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8526756" TargetMode="External"/><Relationship Id="rId2" Type="http://schemas.openxmlformats.org/officeDocument/2006/relationships/hyperlink" Target="https://peerj.com/articles/cs-3011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7288-6DAC-D823-8AD6-0E388AF6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0CB0D-B8A8-C1AB-71B1-8623BE4E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663" y="2895402"/>
            <a:ext cx="9962674" cy="1067196"/>
          </a:xfr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Autofit/>
          </a:bodyPr>
          <a:lstStyle/>
          <a:p>
            <a:pPr algn="dist">
              <a:lnSpc>
                <a:spcPct val="100000"/>
              </a:lnSpc>
            </a:pPr>
            <a:r>
              <a:rPr lang="en-US" altLang="zh-TW" sz="6000" spc="20" dirty="0">
                <a:latin typeface="+mj-ea"/>
              </a:rPr>
              <a:t>NBA</a:t>
            </a:r>
            <a:r>
              <a:rPr lang="zh-TW" altLang="en-US" sz="6000" spc="20" dirty="0">
                <a:latin typeface="+mj-ea"/>
              </a:rPr>
              <a:t>賽事</a:t>
            </a:r>
            <a:r>
              <a:rPr lang="en-US" altLang="zh-TW" sz="6000" spc="20" dirty="0">
                <a:latin typeface="+mj-ea"/>
              </a:rPr>
              <a:t>AI</a:t>
            </a:r>
            <a:r>
              <a:rPr lang="zh-TW" altLang="en-US" sz="6000" spc="20" dirty="0">
                <a:latin typeface="+mj-ea"/>
              </a:rPr>
              <a:t>預測</a:t>
            </a:r>
            <a:r>
              <a:rPr lang="en-US" altLang="zh-TW" sz="6000" spc="20" dirty="0">
                <a:latin typeface="+mj-ea"/>
              </a:rPr>
              <a:t>-</a:t>
            </a:r>
            <a:r>
              <a:rPr lang="zh-TW" altLang="en-US" sz="6000" spc="20" dirty="0">
                <a:latin typeface="+mj-ea"/>
              </a:rPr>
              <a:t>論文閱讀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F299F7-CD32-62AF-91D2-55690F004EE1}"/>
              </a:ext>
            </a:extLst>
          </p:cNvPr>
          <p:cNvSpPr txBox="1"/>
          <p:nvPr/>
        </p:nvSpPr>
        <p:spPr>
          <a:xfrm>
            <a:off x="4125515" y="415497"/>
            <a:ext cx="3940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報告主題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9EB551-10C7-4259-9318-3BF7D9EE6B31}"/>
              </a:ext>
            </a:extLst>
          </p:cNvPr>
          <p:cNvSpPr txBox="1"/>
          <p:nvPr/>
        </p:nvSpPr>
        <p:spPr>
          <a:xfrm>
            <a:off x="7206554" y="5934670"/>
            <a:ext cx="5137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報告者</a:t>
            </a:r>
            <a:r>
              <a:rPr lang="en-US" altLang="zh-TW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徐博凱</a:t>
            </a:r>
          </a:p>
        </p:txBody>
      </p:sp>
    </p:spTree>
    <p:extLst>
      <p:ext uri="{BB962C8B-B14F-4D97-AF65-F5344CB8AC3E}">
        <p14:creationId xmlns:p14="http://schemas.microsoft.com/office/powerpoint/2010/main" val="131930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984277-45D5-BED6-3B76-7C60208E68D0}"/>
              </a:ext>
            </a:extLst>
          </p:cNvPr>
          <p:cNvSpPr txBox="1">
            <a:spLocks/>
          </p:cNvSpPr>
          <p:nvPr/>
        </p:nvSpPr>
        <p:spPr>
          <a:xfrm>
            <a:off x="1298558" y="2992466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報告</a:t>
            </a:r>
            <a:r>
              <a:rPr lang="en-US" altLang="zh-TW" sz="2800" dirty="0"/>
              <a:t>2</a:t>
            </a:r>
            <a:r>
              <a:rPr lang="zh-TW" altLang="en-US" sz="2800" dirty="0"/>
              <a:t>篇論文</a:t>
            </a:r>
            <a:endParaRPr lang="en-US" altLang="zh-TW" sz="2800" dirty="0"/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7AB1C57-496C-CBD8-1932-0D3623F6F50D}"/>
              </a:ext>
            </a:extLst>
          </p:cNvPr>
          <p:cNvSpPr txBox="1">
            <a:spLocks/>
          </p:cNvSpPr>
          <p:nvPr/>
        </p:nvSpPr>
        <p:spPr>
          <a:xfrm>
            <a:off x="1298558" y="1489797"/>
            <a:ext cx="10302892" cy="753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報告</a:t>
            </a:r>
            <a:r>
              <a:rPr lang="en-US" altLang="zh-TW" sz="2800" dirty="0"/>
              <a:t>5</a:t>
            </a:r>
            <a:r>
              <a:rPr lang="zh-TW" altLang="en-US" sz="2800" dirty="0"/>
              <a:t>篇論文</a:t>
            </a:r>
            <a:endParaRPr lang="en-US" altLang="zh-TW" sz="2800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5E1B3235-64C4-1FF1-F27E-CDDA1311789C}"/>
              </a:ext>
            </a:extLst>
          </p:cNvPr>
          <p:cNvSpPr txBox="1">
            <a:spLocks/>
          </p:cNvSpPr>
          <p:nvPr/>
        </p:nvSpPr>
        <p:spPr>
          <a:xfrm>
            <a:off x="1298558" y="837334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預計</a:t>
            </a:r>
            <a:r>
              <a:rPr lang="en-US" altLang="zh-TW" sz="2800" dirty="0"/>
              <a:t>: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EBD6FE93-87A4-64EA-3948-98DEEF1FFF65}"/>
              </a:ext>
            </a:extLst>
          </p:cNvPr>
          <p:cNvSpPr txBox="1">
            <a:spLocks/>
          </p:cNvSpPr>
          <p:nvPr/>
        </p:nvSpPr>
        <p:spPr>
          <a:xfrm>
            <a:off x="1298558" y="2213756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完成</a:t>
            </a:r>
            <a:r>
              <a:rPr lang="en-US" altLang="zh-TW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3248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EBAC4-3E8B-8B6F-1557-E69EAC46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E06E45F-45EC-D4D5-B862-7D69C464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56" y="114300"/>
            <a:ext cx="1516019" cy="733425"/>
          </a:xfrm>
        </p:spPr>
        <p:txBody>
          <a:bodyPr>
            <a:normAutofit/>
          </a:bodyPr>
          <a:lstStyle/>
          <a:p>
            <a:pPr algn="ctr"/>
            <a:r>
              <a:rPr lang="zh-TW" altLang="en-US" sz="2400" dirty="0"/>
              <a:t>參考文獻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924CFEF-566D-FD46-8781-E554EF1B7553}"/>
              </a:ext>
            </a:extLst>
          </p:cNvPr>
          <p:cNvSpPr txBox="1">
            <a:spLocks/>
          </p:cNvSpPr>
          <p:nvPr/>
        </p:nvSpPr>
        <p:spPr>
          <a:xfrm>
            <a:off x="1179556" y="847724"/>
            <a:ext cx="9983744" cy="57054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cap="none" dirty="0"/>
              <a:t>Gao, J., Cheng, Y., &amp; Gao, J. (2025). Predicting sport event outcomes using deep learning. </a:t>
            </a:r>
            <a:r>
              <a:rPr lang="en-US" altLang="zh-TW" sz="2400" i="1" cap="none" dirty="0" err="1"/>
              <a:t>PeerJ</a:t>
            </a:r>
            <a:r>
              <a:rPr lang="en-US" altLang="zh-TW" sz="2400" i="1" cap="none" dirty="0"/>
              <a:t> Computer Science</a:t>
            </a:r>
            <a:r>
              <a:rPr lang="en-US" altLang="zh-TW" sz="2400" cap="none" dirty="0"/>
              <a:t>, </a:t>
            </a:r>
            <a:r>
              <a:rPr lang="en-US" altLang="zh-TW" sz="2400" i="1" cap="none" dirty="0"/>
              <a:t>11</a:t>
            </a:r>
            <a:r>
              <a:rPr lang="en-US" altLang="zh-TW" sz="2400" cap="none" dirty="0"/>
              <a:t>, e3011.</a:t>
            </a:r>
            <a:r>
              <a:rPr lang="en-US" altLang="zh-TW" sz="2400" cap="none" dirty="0">
                <a:hlinkClick r:id="rId2"/>
              </a:rPr>
              <a:t> Predicting sport event outcomes using deep learning [</a:t>
            </a:r>
            <a:r>
              <a:rPr lang="en-US" altLang="zh-TW" sz="2400" cap="none" dirty="0" err="1">
                <a:hlinkClick r:id="rId2"/>
              </a:rPr>
              <a:t>peerj</a:t>
            </a:r>
            <a:r>
              <a:rPr lang="en-US" altLang="zh-TW" sz="2400" cap="none" dirty="0">
                <a:hlinkClick r:id="rId2"/>
              </a:rPr>
              <a:t>]</a:t>
            </a:r>
            <a:endParaRPr lang="en-US" altLang="zh-TW" sz="2400" cap="none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cap="none" dirty="0" err="1"/>
              <a:t>Korotyeyeva</a:t>
            </a:r>
            <a:r>
              <a:rPr lang="en-US" altLang="zh-TW" sz="2400" cap="none" dirty="0"/>
              <a:t>, T., </a:t>
            </a:r>
            <a:r>
              <a:rPr lang="en-US" altLang="zh-TW" sz="2400" cap="none" dirty="0" err="1"/>
              <a:t>Tushnytskyy</a:t>
            </a:r>
            <a:r>
              <a:rPr lang="en-US" altLang="zh-TW" sz="2400" cap="none" dirty="0"/>
              <a:t>, R., &amp; Kulyk, V. (2018, September). Applying neural networks to football matches results forecasting. In </a:t>
            </a:r>
            <a:r>
              <a:rPr lang="en-US" altLang="zh-TW" sz="2400" i="1" cap="none" dirty="0"/>
              <a:t>2018 IEEE 13th international scientific and technical conference on computer sciences and information technologies (CSIT)</a:t>
            </a:r>
            <a:r>
              <a:rPr lang="en-US" altLang="zh-TW" sz="2400" cap="none" dirty="0"/>
              <a:t> (vol. 1, pp. 278-282). IEEE.</a:t>
            </a:r>
            <a:r>
              <a:rPr lang="en-US" altLang="zh-TW" sz="2400" cap="none" dirty="0">
                <a:hlinkClick r:id="rId3"/>
              </a:rPr>
              <a:t> Applying neural networks to football matches results forecasting | IEEE conference publication | IEEE </a:t>
            </a:r>
            <a:r>
              <a:rPr lang="en-US" altLang="zh-TW" sz="2400" cap="none" dirty="0" err="1">
                <a:hlinkClick r:id="rId3"/>
              </a:rPr>
              <a:t>xplore</a:t>
            </a:r>
            <a:endParaRPr lang="en-US" altLang="zh-TW" sz="2400" cap="none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TW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58843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AC36-35DA-2DC2-5C8F-39082FA3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83B88E9-A865-C587-B438-B30BC6DAF1B3}"/>
              </a:ext>
            </a:extLst>
          </p:cNvPr>
          <p:cNvSpPr txBox="1">
            <a:spLocks/>
          </p:cNvSpPr>
          <p:nvPr/>
        </p:nvSpPr>
        <p:spPr>
          <a:xfrm>
            <a:off x="47625" y="2357437"/>
            <a:ext cx="120967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深度學習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(CNN + Transformer)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預測賽事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4000" dirty="0"/>
              <a:t>Predicting sport event outcomes using deep learning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73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3624262" y="-266610"/>
            <a:ext cx="4943475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歐洲足球賽事預測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3B5687-A701-B1F5-EC99-EDF9DFC7E4F0}"/>
              </a:ext>
            </a:extLst>
          </p:cNvPr>
          <p:cNvSpPr txBox="1">
            <a:spLocks/>
          </p:cNvSpPr>
          <p:nvPr/>
        </p:nvSpPr>
        <p:spPr>
          <a:xfrm>
            <a:off x="896555" y="819270"/>
            <a:ext cx="11047795" cy="8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使用模型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CNN(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短期關係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統計數據波動大不適合長期關係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TW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6FE13AB-66B2-E837-7E38-1D4ED39CE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665748"/>
              </p:ext>
            </p:extLst>
          </p:nvPr>
        </p:nvGraphicFramePr>
        <p:xfrm>
          <a:off x="896555" y="1914645"/>
          <a:ext cx="10600120" cy="49372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中文名稱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彙總球員評分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將球隊球員的綜合評分彙總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/>
                        <a:t>進球數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近幾場的進球數總和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失球數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近幾場的失球數總和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淨勝球數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進球數 </a:t>
                      </a:r>
                      <a:r>
                        <a:rPr lang="en-US" altLang="zh-TW" sz="2800" dirty="0"/>
                        <a:t>-</a:t>
                      </a:r>
                      <a:r>
                        <a:rPr lang="zh-TW" altLang="en-US" sz="2800" dirty="0"/>
                        <a:t> 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失球數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歷史對戰數據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某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隊的對戰。紀錄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隊贏跟輸次數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44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83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8D32-7FD0-1C14-C6EE-0B2885C5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0B3DE4-89CB-92E2-78C9-95654B82A1F3}"/>
              </a:ext>
            </a:extLst>
          </p:cNvPr>
          <p:cNvSpPr txBox="1">
            <a:spLocks/>
          </p:cNvSpPr>
          <p:nvPr/>
        </p:nvSpPr>
        <p:spPr>
          <a:xfrm>
            <a:off x="915606" y="76320"/>
            <a:ext cx="2208595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0235F0-CE78-4338-7CC5-6CBB44A49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676280"/>
              </p:ext>
            </p:extLst>
          </p:nvPr>
        </p:nvGraphicFramePr>
        <p:xfrm>
          <a:off x="915606" y="1045908"/>
          <a:ext cx="10371520" cy="535823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857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1857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中文名稱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獲勝場次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近幾場的獲勝場次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/>
                        <a:t>單場進球數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單場比賽的進球數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9224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射正次數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進球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射門被擋下 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 射門打到框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淨勝球數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罰球命中數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控球百分比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球權整場所佔的時間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097"/>
                  </a:ext>
                </a:extLst>
              </a:tr>
              <a:tr h="7355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博彩賠率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勝、平、敗賠率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3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08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3740-FE00-AF2B-0CCE-15DE2190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37060A-9EEA-A6BF-6E23-B53E97D5D78E}"/>
              </a:ext>
            </a:extLst>
          </p:cNvPr>
          <p:cNvSpPr txBox="1">
            <a:spLocks/>
          </p:cNvSpPr>
          <p:nvPr/>
        </p:nvSpPr>
        <p:spPr>
          <a:xfrm>
            <a:off x="915606" y="352425"/>
            <a:ext cx="10895394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使用模型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Transformer(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適合長遠關係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隊伍固有強度為長年累積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38346C-CE82-4A5C-B040-8233A5310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900594"/>
              </p:ext>
            </p:extLst>
          </p:nvPr>
        </p:nvGraphicFramePr>
        <p:xfrm>
          <a:off x="915606" y="1733610"/>
          <a:ext cx="10600120" cy="23954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中文名稱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聯賽識別碼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不同國家的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隊伍名稱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不同隊伍的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066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86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3266A-666D-C600-ECD5-8F4B6E18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036098-3557-90B8-4F7D-E305440BDBE2}"/>
              </a:ext>
            </a:extLst>
          </p:cNvPr>
          <p:cNvSpPr txBox="1">
            <a:spLocks/>
          </p:cNvSpPr>
          <p:nvPr/>
        </p:nvSpPr>
        <p:spPr>
          <a:xfrm>
            <a:off x="915606" y="76320"/>
            <a:ext cx="174186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C5561B-F128-B0EE-0F59-A652A90C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06" y="838260"/>
            <a:ext cx="7637883" cy="580072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EBED663-6940-8C88-EF32-3CF8A8DAC0EF}"/>
              </a:ext>
            </a:extLst>
          </p:cNvPr>
          <p:cNvSpPr txBox="1"/>
          <p:nvPr/>
        </p:nvSpPr>
        <p:spPr>
          <a:xfrm>
            <a:off x="8774390" y="3217217"/>
            <a:ext cx="3322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見</a:t>
            </a:r>
            <a:r>
              <a:rPr lang="en-US" altLang="zh-TW" sz="2400" dirty="0"/>
              <a:t>Gao, Cheng, &amp; Gao,</a:t>
            </a:r>
            <a:r>
              <a:rPr lang="zh-TW" altLang="en-US" sz="2400" dirty="0"/>
              <a:t> </a:t>
            </a:r>
            <a:r>
              <a:rPr lang="en-US" altLang="zh-TW" sz="2400" dirty="0"/>
              <a:t>2025,</a:t>
            </a:r>
            <a:r>
              <a:rPr lang="zh-TW" altLang="en-US" sz="2400" dirty="0"/>
              <a:t> </a:t>
            </a:r>
            <a:r>
              <a:rPr lang="en-US" altLang="zh-TW" sz="2400" dirty="0"/>
              <a:t>Table4, Table5)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4F212F6-A293-5F2C-EE0E-7B866D1EA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126" y="5807988"/>
            <a:ext cx="3371624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0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53428-FC26-2AA6-C0A7-A58D07DF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E0B1E0-2B09-12B6-189E-8F9377F948BB}"/>
              </a:ext>
            </a:extLst>
          </p:cNvPr>
          <p:cNvSpPr txBox="1">
            <a:spLocks/>
          </p:cNvSpPr>
          <p:nvPr/>
        </p:nvSpPr>
        <p:spPr>
          <a:xfrm>
            <a:off x="915606" y="76320"/>
            <a:ext cx="25895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消融實驗數據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15FCF66-EC21-E960-9C91-8EB4EE1843FB}"/>
              </a:ext>
            </a:extLst>
          </p:cNvPr>
          <p:cNvSpPr txBox="1"/>
          <p:nvPr/>
        </p:nvSpPr>
        <p:spPr>
          <a:xfrm>
            <a:off x="3471545" y="3643121"/>
            <a:ext cx="4960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見</a:t>
            </a:r>
            <a:r>
              <a:rPr lang="en-US" altLang="zh-TW" sz="2400" dirty="0"/>
              <a:t>Gao, Cheng, &amp; Gao,</a:t>
            </a:r>
            <a:r>
              <a:rPr lang="zh-TW" altLang="en-US" sz="2400" dirty="0"/>
              <a:t> </a:t>
            </a:r>
            <a:r>
              <a:rPr lang="en-US" altLang="zh-TW" sz="2400" dirty="0"/>
              <a:t>2025,</a:t>
            </a:r>
            <a:r>
              <a:rPr lang="zh-TW" altLang="en-US" sz="2400" dirty="0"/>
              <a:t> </a:t>
            </a:r>
            <a:r>
              <a:rPr lang="en-US" altLang="zh-TW" sz="2400" dirty="0"/>
              <a:t>Table6)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A18A550-C343-CDD6-7309-523F93EA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81" y="1052382"/>
            <a:ext cx="9786789" cy="237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9C6B-4C57-64E0-20F0-60D8C8D1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6C5784F-453B-A6DC-9213-1706E826A756}"/>
              </a:ext>
            </a:extLst>
          </p:cNvPr>
          <p:cNvSpPr txBox="1">
            <a:spLocks/>
          </p:cNvSpPr>
          <p:nvPr/>
        </p:nvSpPr>
        <p:spPr>
          <a:xfrm>
            <a:off x="0" y="1881187"/>
            <a:ext cx="12144375" cy="2319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神經網路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(FNN)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應用於足球比賽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4000" dirty="0"/>
              <a:t>Applying Neural Networks to Football Matches Results Forecasting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2818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FF1B-B060-F9FD-6601-607CF43E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E74E4D8D-3AE3-3EAF-CB55-59B7F41F7CB7}"/>
              </a:ext>
            </a:extLst>
          </p:cNvPr>
          <p:cNvSpPr txBox="1">
            <a:spLocks/>
          </p:cNvSpPr>
          <p:nvPr/>
        </p:nvSpPr>
        <p:spPr>
          <a:xfrm>
            <a:off x="2476500" y="-323790"/>
            <a:ext cx="7239000" cy="1457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神經網路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(FNN)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應用於足球比賽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16E782-45CC-C864-FF4D-9BB885D41427}"/>
              </a:ext>
            </a:extLst>
          </p:cNvPr>
          <p:cNvSpPr txBox="1">
            <a:spLocks/>
          </p:cNvSpPr>
          <p:nvPr/>
        </p:nvSpPr>
        <p:spPr>
          <a:xfrm>
            <a:off x="953705" y="971669"/>
            <a:ext cx="10876345" cy="10952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使用模型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FNN(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前饋神經網路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主要特徵值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3371DB0-85E5-8482-C2E4-3C165557B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703525"/>
              </p:ext>
            </p:extLst>
          </p:nvPr>
        </p:nvGraphicFramePr>
        <p:xfrm>
          <a:off x="953705" y="2305109"/>
          <a:ext cx="10542970" cy="43623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71485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271485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8724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中文名稱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8724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每支球隊近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場統計數據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每個隊伍最近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場的比賽數據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8724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球隊之間以往的統計數據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、</a:t>
                      </a:r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兩隊以往的所有比賽數據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8724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主隊在主場比賽的統計數據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主隊在主場的所有比賽數據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8724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客隊的客場統計數據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客隊在非主場的所有比賽數據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10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97E72-9C5E-9828-0F61-914BCD20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78DB85-7DF6-7C3E-4540-2CC96FF94A78}"/>
              </a:ext>
            </a:extLst>
          </p:cNvPr>
          <p:cNvSpPr txBox="1">
            <a:spLocks/>
          </p:cNvSpPr>
          <p:nvPr/>
        </p:nvSpPr>
        <p:spPr>
          <a:xfrm>
            <a:off x="1001327" y="190499"/>
            <a:ext cx="2404878" cy="8919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次要特徵值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AD3E389-BCFC-5E48-2AF4-04346CB27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710607"/>
              </p:ext>
            </p:extLst>
          </p:nvPr>
        </p:nvGraphicFramePr>
        <p:xfrm>
          <a:off x="1001327" y="1014441"/>
          <a:ext cx="10666798" cy="56530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33399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33399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中文名稱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比賽時的天氣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晴天、雨天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比賽發生的時段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上午、下午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聯賽排名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每隊在自己聯賽的排名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18797"/>
                  </a:ext>
                </a:extLst>
              </a:tr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犯規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犯規總次數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28285"/>
                  </a:ext>
                </a:extLst>
              </a:tr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點球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罰球總次數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800380"/>
                  </a:ext>
                </a:extLst>
              </a:tr>
              <a:tr h="8075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角球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球門附近發球總次數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04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181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38CF-955D-9159-9FB2-BFAB9328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07BE41-5F85-318F-A325-BBCD59B4E605}"/>
              </a:ext>
            </a:extLst>
          </p:cNvPr>
          <p:cNvSpPr txBox="1">
            <a:spLocks/>
          </p:cNvSpPr>
          <p:nvPr/>
        </p:nvSpPr>
        <p:spPr>
          <a:xfrm>
            <a:off x="915606" y="76320"/>
            <a:ext cx="5799519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對比輸入特徵數量準確率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49C3ECF-A63A-A6AC-7914-7CE4303AD61F}"/>
              </a:ext>
            </a:extLst>
          </p:cNvPr>
          <p:cNvSpPr txBox="1"/>
          <p:nvPr/>
        </p:nvSpPr>
        <p:spPr>
          <a:xfrm>
            <a:off x="1617333" y="5152965"/>
            <a:ext cx="6652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見</a:t>
            </a:r>
            <a:r>
              <a:rPr lang="en-US" altLang="zh-TW" sz="2400" dirty="0" err="1"/>
              <a:t>Korotyeyeva</a:t>
            </a:r>
            <a:r>
              <a:rPr lang="en-US" altLang="zh-TW" sz="2400" dirty="0"/>
              <a:t>, </a:t>
            </a:r>
            <a:r>
              <a:rPr lang="en-US" altLang="zh-TW" sz="2400" dirty="0" err="1"/>
              <a:t>Tushnytskyy</a:t>
            </a:r>
            <a:r>
              <a:rPr lang="en-US" altLang="zh-TW" sz="2400" dirty="0"/>
              <a:t>, &amp; Kulyk,</a:t>
            </a:r>
            <a:r>
              <a:rPr lang="zh-TW" altLang="en-US" sz="2400" dirty="0"/>
              <a:t> </a:t>
            </a:r>
            <a:r>
              <a:rPr lang="en-US" altLang="zh-TW" sz="2400" dirty="0"/>
              <a:t>2018,</a:t>
            </a:r>
            <a:r>
              <a:rPr lang="zh-TW" altLang="en-US" sz="2400" dirty="0"/>
              <a:t> </a:t>
            </a:r>
            <a:r>
              <a:rPr lang="en-US" altLang="zh-TW" sz="2400" dirty="0"/>
              <a:t>Table1)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852C576-E8D4-021C-C118-7C01D30CD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2" y="1052299"/>
            <a:ext cx="8396758" cy="381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50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64B0-04D7-AF49-C1E8-FB78266F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22651D-9B4F-A7BA-8288-BE28588604E5}"/>
              </a:ext>
            </a:extLst>
          </p:cNvPr>
          <p:cNvSpPr txBox="1">
            <a:spLocks/>
          </p:cNvSpPr>
          <p:nvPr/>
        </p:nvSpPr>
        <p:spPr>
          <a:xfrm>
            <a:off x="915606" y="76320"/>
            <a:ext cx="67805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對比隱藏層數量 、 神經元數量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75DF264-6C10-3DA7-F060-13CF4745DE29}"/>
              </a:ext>
            </a:extLst>
          </p:cNvPr>
          <p:cNvSpPr txBox="1"/>
          <p:nvPr/>
        </p:nvSpPr>
        <p:spPr>
          <a:xfrm>
            <a:off x="2398383" y="6320015"/>
            <a:ext cx="7879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見</a:t>
            </a:r>
            <a:r>
              <a:rPr lang="en-US" altLang="zh-TW" sz="2400" dirty="0" err="1"/>
              <a:t>Korotyeyeva</a:t>
            </a:r>
            <a:r>
              <a:rPr lang="en-US" altLang="zh-TW" sz="2400" dirty="0"/>
              <a:t>, </a:t>
            </a:r>
            <a:r>
              <a:rPr lang="en-US" altLang="zh-TW" sz="2400" dirty="0" err="1"/>
              <a:t>Tushnytskyy</a:t>
            </a:r>
            <a:r>
              <a:rPr lang="en-US" altLang="zh-TW" sz="2400" dirty="0"/>
              <a:t>, &amp; Kulyk,</a:t>
            </a:r>
            <a:r>
              <a:rPr lang="zh-TW" altLang="en-US" sz="2400" dirty="0"/>
              <a:t> </a:t>
            </a:r>
            <a:r>
              <a:rPr lang="en-US" altLang="zh-TW" sz="2400" dirty="0"/>
              <a:t>2018,</a:t>
            </a:r>
            <a:r>
              <a:rPr lang="zh-TW" altLang="en-US" sz="2400" dirty="0"/>
              <a:t> </a:t>
            </a:r>
            <a:r>
              <a:rPr lang="en-US" altLang="zh-TW" sz="2400" dirty="0"/>
              <a:t>Table2</a:t>
            </a:r>
            <a:r>
              <a:rPr lang="zh-TW" altLang="en-US" sz="2400" dirty="0"/>
              <a:t>、</a:t>
            </a:r>
            <a:r>
              <a:rPr lang="en-US" altLang="zh-TW" sz="2400" dirty="0"/>
              <a:t>Table3)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17DE4-1D5C-40F9-25E2-E0442727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07" y="838260"/>
            <a:ext cx="5027993" cy="53339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B6BC555-0B6D-EEF8-4C32-FB5816EA8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436" y="838260"/>
            <a:ext cx="4643481" cy="533398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0353A27-5470-689A-3126-A547472E4617}"/>
              </a:ext>
            </a:extLst>
          </p:cNvPr>
          <p:cNvSpPr/>
          <p:nvPr/>
        </p:nvSpPr>
        <p:spPr>
          <a:xfrm>
            <a:off x="6918960" y="3462020"/>
            <a:ext cx="4394200" cy="28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26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856E-7914-A17C-AEE6-F9DB2DB2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9BD71F4-023F-F9F5-36BA-3BF99BAB3EB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821BAD-4CC1-9988-4672-F7795ED74137}"/>
              </a:ext>
            </a:extLst>
          </p:cNvPr>
          <p:cNvSpPr txBox="1">
            <a:spLocks/>
          </p:cNvSpPr>
          <p:nvPr/>
        </p:nvSpPr>
        <p:spPr>
          <a:xfrm>
            <a:off x="1351787" y="1161992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找賽事預測相關論文、報告</a:t>
            </a:r>
            <a:r>
              <a:rPr lang="en-US" altLang="zh-TW" sz="2800" dirty="0"/>
              <a:t>3</a:t>
            </a:r>
            <a:r>
              <a:rPr lang="zh-TW" altLang="en-US" sz="2800" dirty="0"/>
              <a:t>篇論文。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375053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8139</TotalTime>
  <Words>805</Words>
  <Application>Microsoft Office PowerPoint</Application>
  <PresentationFormat>寬螢幕</PresentationFormat>
  <Paragraphs>110</Paragraphs>
  <Slides>15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Calibri</vt:lpstr>
      <vt:lpstr>Tw Cen MT</vt:lpstr>
      <vt:lpstr>Wingdings</vt:lpstr>
      <vt:lpstr>電路</vt:lpstr>
      <vt:lpstr>NBA賽事AI預測-論文閱讀</vt:lpstr>
      <vt:lpstr>PowerPoint 簡報</vt:lpstr>
      <vt:lpstr>參考文獻: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AI賽事預測-作法</dc:title>
  <dc:creator>博凱 徐</dc:creator>
  <cp:lastModifiedBy>博凱 徐</cp:lastModifiedBy>
  <cp:revision>29</cp:revision>
  <dcterms:created xsi:type="dcterms:W3CDTF">2025-07-02T01:22:36Z</dcterms:created>
  <dcterms:modified xsi:type="dcterms:W3CDTF">2025-11-19T14:09:19Z</dcterms:modified>
</cp:coreProperties>
</file>